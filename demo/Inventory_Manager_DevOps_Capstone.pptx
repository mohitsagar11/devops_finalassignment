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baf3eca-e189-35ee-1639-88f36b3909f1}">
          <p14:sldIdLst>
            <p14:sldId id="256"/>
          </p14:sldIdLst>
        </p14:section>
        <p14:section name="Application" id="{ec124f3f-61ba-ba74-eb26-b035010d76ac}">
          <p14:sldIdLst>
            <p14:sldId id="257"/>
          </p14:sldIdLst>
        </p14:section>
        <p14:section name="Pipeline" id="{ef35fe2f-c2d8-c7af-2f10-0937435ccd30}">
          <p14:sldIdLst>
            <p14:sldId id="258"/>
            <p14:sldId id="259"/>
            <p14:sldId id="260"/>
          </p14:sldIdLst>
        </p14:section>
        <p14:section name="Platform" id="{4f7cbe98-7035-3b89-3e84-48f9e118ef55}">
          <p14:sldIdLst>
            <p14:sldId id="261"/>
            <p14:sldId id="262"/>
            <p14:sldId id="263"/>
          </p14:sldIdLst>
        </p14:section>
        <p14:section name="Wrap-up" id="{dbea5e73-95c0-d201-1fdd-f3af59bca264}">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 Manager is a warehouse stock-control app. The app itself is small on purpose: the project is the delivery pipeline around it, from a commit on my laptop to a monitored deployment on AWS 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the user can do: manage products by SKU, receive and ship stock, and see what needs reordering. FastAPI exposes create, read, update, delete plus a stock-adjust and a stats endpoint. Alembic owns the database schema with two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delivery path: a push to main runs GitHub Actions, images go to GitHub Container Registry tagged with the commit SHA, and Helm deploys them. The dashed box is AWS, created by Terraform. Ingress sends / to the React frontend and /api to FastAPI; Postgres runs as a StatefulSet on an EBS volume; Prometheus scrapes the backend and Grafana visualises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jobs. Tests and infrastructure linting run first; only if both pass do we build the images, scan them with Trivy, and push to GHCR with the commit SHA as the tag. The deploy job logs in to AWS with a short-lived GitHub OIDC token, so no AWS keys are stored in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OS packages and app libraries in both images and fails the job on any HIGH or CRITICAL CVE that has a fix. Our first scan failed: Starlette 0.41.3 had CVE-2025-62727, where a crafted Range header could tie up the CPU and deny service. Upgrading Starlette and the nginx base image brought both images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creates the VPC with public subnets for the load balancer and NAT, private subnets for the nodes, the EKS cluster and node group, the EBS CSI driver and the GitHub OIDC deploy role. Everything was torn down with terraform destroy after the demo: 66 created, 66 destroyed.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Helm chart packages everything the app needs. All pods are Running; the deployments run images tagged with the commit SHA; the Ingress is backed by an AWS load balancer; and the HPA watches backend CPU between 2 and 8 replicas.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at /metrics. A ServiceMonitor tells Prometheus to scrape both pods every 15 seconds, and the Grafana dashboard is provisioned automatically from a ConfigMap in the Helm chart. Under load we saw about 23 requests per second with a p95 latency under 10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are the first gate: 19 cases over every endpoint, running against SQLite so they never touch the real database. Both containers run as non-root users, and the frontend uses a multi-stage build so Node never ships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issues found by actually running the system. Each one was diagnosed from logs or error messages and fixed in code, not worked around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change the header subtitle, commit and push. Show the Actions tab running tests, Trivy and the deploy, then kubectl get pods -w to watch pods roll to the new SHA, and refresh the browser to show v2. If live AWS is not available, play demo/demo.mp4.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27 commits, 19 tests, zero high or critical vulnerabilities shipped, and all 66 AWS resources destroyed after the demo.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54864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474720"/>
            <a:ext cx="5486400" cy="100584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Inventory Manager · DevOps Capstone</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MohitSAGAR11/devops_finalAssignment" TargetMode="Externa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MohitSAGAR11/devops_finalAssignment"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5486400" cy="1737360"/>
          </a:xfrm>
          <a:prstGeom prst="rect">
            <a:avLst/>
          </a:prstGeom>
          <a:noFill/>
          <a:ln/>
        </p:spPr>
        <p:txBody>
          <a:bodyPr wrap="square" lIns="0" tIns="0" rIns="0" bIns="0" rtlCol="0" anchor="b"/>
          <a:lstStyle/>
          <a:p>
            <a:pPr algn="l" indent="0" marL="0">
              <a:buNone/>
            </a:pPr>
            <a:r>
              <a:rPr lang="en-US" sz="4400" b="1" dirty="0">
                <a:solidFill>
                  <a:schemeClr val="bg1"/>
                </a:solidFill>
              </a:rPr>
              <a:t>Inventory Manager</a:t>
            </a:r>
            <a:endParaRPr lang="en-US" sz="4400" dirty="0"/>
          </a:p>
        </p:txBody>
      </p:sp>
      <p:sp>
        <p:nvSpPr>
          <p:cNvPr id="3" name="Text 0"/>
          <p:cNvSpPr/>
          <p:nvPr>
            <p:ph idx="101" type="body" hasCustomPrompt="1"/>
          </p:nvPr>
        </p:nvSpPr>
        <p:spPr>
          <a:xfrm>
            <a:off x="731520" y="3474720"/>
            <a:ext cx="5486400" cy="1005840"/>
          </a:xfrm>
          <a:prstGeom prst="rect">
            <a:avLst/>
          </a:prstGeom>
          <a:noFill/>
          <a:ln/>
        </p:spPr>
        <p:txBody>
          <a:bodyPr wrap="square" lIns="0" tIns="0" rIns="0" bIns="0" rtlCol="0" anchor="t"/>
          <a:lstStyle/>
          <a:p>
            <a:pPr algn="l" indent="0" marL="0">
              <a:buNone/>
            </a:pPr>
            <a:r>
              <a:rPr lang="en-US" sz="2000" dirty="0">
                <a:solidFill>
                  <a:schemeClr val="accent2"/>
                </a:solidFill>
              </a:rPr>
              <a:t>From git push to a monitored Kubernetes deployment on AWS</a:t>
            </a:r>
            <a:endParaRPr lang="en-US" sz="2000" dirty="0"/>
          </a:p>
        </p:txBody>
      </p:sp>
      <p:sp>
        <p:nvSpPr>
          <p:cNvPr id="4" name="Text 2"/>
          <p:cNvSpPr txBox="1"/>
          <p:nvPr/>
        </p:nvSpPr>
        <p:spPr>
          <a:xfrm>
            <a:off x="731520" y="5120640"/>
            <a:ext cx="5486400" cy="365760"/>
          </a:xfrm>
          <a:prstGeom prst="rect">
            <a:avLst/>
          </a:prstGeom>
          <a:noFill/>
          <a:ln/>
        </p:spPr>
        <p:txBody>
          <a:bodyPr wrap="square" lIns="0" tIns="0" rIns="0" bIns="0" rtlCol="0" anchor="ctr"/>
          <a:lstStyle/>
          <a:p>
            <a:pPr indent="0" marL="0">
              <a:buNone/>
            </a:pPr>
            <a:r>
              <a:rPr lang="en-US" sz="1400" dirty="0">
                <a:solidFill>
                  <a:schemeClr val="bg2"/>
                </a:solidFill>
              </a:rPr>
              <a:t>DevOps Capstone · Mohit Sagar · October 2026</a:t>
            </a:r>
            <a:endParaRPr lang="en-US" sz="1400" dirty="0"/>
          </a:p>
        </p:txBody>
      </p:sp>
      <p:sp>
        <p:nvSpPr>
          <p:cNvPr id="5" name="App running on EKS frame"/>
          <p:cNvSpPr/>
          <p:nvPr/>
        </p:nvSpPr>
        <p:spPr>
          <a:xfrm>
            <a:off x="6629400" y="1921579"/>
            <a:ext cx="5029200" cy="3014842"/>
          </a:xfrm>
          <a:prstGeom prst="rect">
            <a:avLst/>
          </a:prstGeom>
          <a:solidFill>
            <a:schemeClr val="bg1"/>
          </a:solidFill>
          <a:ln w="9525">
            <a:solidFill>
              <a:srgbClr val="C9D6D2"/>
            </a:solidFill>
            <a:prstDash val="solid"/>
          </a:ln>
          <a:effectLst>
            <a:outerShdw sx="100000" sy="100000" kx="0" ky="0" algn="bl" rotWithShape="0" blurRad="101600" dist="25400" dir="5400000">
              <a:srgbClr val="000000">
                <a:alpha val="16000"/>
              </a:srgbClr>
            </a:outerShdw>
          </a:effectLst>
        </p:spPr>
      </p:sp>
      <p:pic>
        <p:nvPicPr>
          <p:cNvPr id="6" name="App running on EKS" descr="App running on EKS">    </p:cNvPr>
          <p:cNvPicPr>
            <a:picLocks noChangeAspect="1"/>
          </p:cNvPicPr>
          <p:nvPr/>
        </p:nvPicPr>
        <p:blipFill>
          <a:blip r:embed="rId1"/>
          <a:stretch>
            <a:fillRect/>
          </a:stretch>
        </p:blipFill>
        <p:spPr>
          <a:xfrm>
            <a:off x="6675120" y="1967299"/>
            <a:ext cx="4937760" cy="29234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3400" b="1" dirty="0">
                <a:solidFill>
                  <a:schemeClr val="tx1"/>
                </a:solidFill>
              </a:rPr>
              <a:t>What the app does</a:t>
            </a:r>
            <a:endParaRPr lang="en-US" sz="3400" dirty="0"/>
          </a:p>
        </p:txBody>
      </p:sp>
      <p:sp>
        <p:nvSpPr>
          <p:cNvPr id="3" name="Module chip"/>
          <p:cNvSpPr txBox="1"/>
          <p:nvPr/>
        </p:nvSpPr>
        <p:spPr>
          <a:xfrm>
            <a:off x="9555480" y="502920"/>
            <a:ext cx="2103120" cy="411480"/>
          </a:xfrm>
          <a:prstGeom prst="roundRect">
            <a:avLst>
              <a:gd name="adj" fmla="val 40000"/>
            </a:avLst>
          </a:prstGeom>
          <a:solidFill>
            <a:schemeClr val="bg2"/>
          </a:solidFill>
          <a:ln/>
        </p:spPr>
        <p:txBody>
          <a:bodyPr wrap="square" lIns="0" tIns="0" rIns="0" bIns="0" rtlCol="0" anchor="ctr"/>
          <a:lstStyle/>
          <a:p>
            <a:pPr algn="ctr" indent="0" marL="0">
              <a:buNone/>
            </a:pPr>
            <a:r>
              <a:rPr lang="en-US" sz="1200" b="1" dirty="0">
                <a:solidFill>
                  <a:schemeClr val="accent1"/>
                </a:solidFill>
              </a:rPr>
              <a:t>M1 · Application</a:t>
            </a:r>
            <a:endParaRPr lang="en-US" sz="1200" dirty="0"/>
          </a:p>
        </p:txBody>
      </p:sp>
      <p:sp>
        <p:nvSpPr>
          <p:cNvPr id="4" name="Feature 1 badge"/>
          <p:cNvSpPr txBox="1"/>
          <p:nvPr/>
        </p:nvSpPr>
        <p:spPr>
          <a:xfrm>
            <a:off x="548640" y="160020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280160" y="1490472"/>
            <a:ext cx="4023360" cy="868680"/>
          </a:xfrm>
          <a:prstGeom prst="rect">
            <a:avLst/>
          </a:prstGeom>
          <a:noFill/>
          <a:ln/>
        </p:spPr>
        <p:txBody>
          <a:bodyPr wrap="square" lIns="0" tIns="0" rIns="0" bIns="0" rtlCol="0" anchor="t"/>
          <a:lstStyle/>
          <a:p>
            <a:pPr indent="0" marL="0">
              <a:buNone/>
            </a:pPr>
            <a:r>
              <a:rPr lang="en-US" sz="1800" b="1" dirty="0">
                <a:solidFill>
                  <a:schemeClr val="tx1"/>
                </a:solidFill>
              </a:rPr>
              <a:t>Track products by SKU</a:t>
            </a:r>
            <a:endParaRPr lang="en-US" sz="1800" dirty="0"/>
          </a:p>
          <a:p>
            <a:pPr indent="0" marL="0">
              <a:buNone/>
            </a:pPr>
            <a:r>
              <a:rPr lang="en-US" sz="1400" dirty="0">
                <a:solidFill>
                  <a:schemeClr val="accent4"/>
                </a:solidFill>
              </a:rPr>
              <a:t>Category, supplier, unit price and reorder level</a:t>
            </a:r>
            <a:endParaRPr lang="en-US" sz="1800" dirty="0"/>
          </a:p>
        </p:txBody>
      </p:sp>
      <p:sp>
        <p:nvSpPr>
          <p:cNvPr id="6" name="Feature 2 badge"/>
          <p:cNvSpPr txBox="1"/>
          <p:nvPr/>
        </p:nvSpPr>
        <p:spPr>
          <a:xfrm>
            <a:off x="548640" y="278892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7" name="Text 5"/>
          <p:cNvSpPr txBox="1"/>
          <p:nvPr/>
        </p:nvSpPr>
        <p:spPr>
          <a:xfrm>
            <a:off x="1280160" y="2679192"/>
            <a:ext cx="4023360" cy="868680"/>
          </a:xfrm>
          <a:prstGeom prst="rect">
            <a:avLst/>
          </a:prstGeom>
          <a:noFill/>
          <a:ln/>
        </p:spPr>
        <p:txBody>
          <a:bodyPr wrap="square" lIns="0" tIns="0" rIns="0" bIns="0" rtlCol="0" anchor="t"/>
          <a:lstStyle/>
          <a:p>
            <a:pPr indent="0" marL="0">
              <a:buNone/>
            </a:pPr>
            <a:r>
              <a:rPr lang="en-US" sz="1800" b="1" dirty="0">
                <a:solidFill>
                  <a:schemeClr val="tx1"/>
                </a:solidFill>
              </a:rPr>
              <a:t>Receive and ship stock</a:t>
            </a:r>
            <a:endParaRPr lang="en-US" sz="1800" dirty="0"/>
          </a:p>
          <a:p>
            <a:pPr indent="0" marL="0">
              <a:buNone/>
            </a:pPr>
            <a:r>
              <a:rPr lang="en-US" sz="1400" dirty="0">
                <a:solidFill>
                  <a:schemeClr val="accent4"/>
                </a:solidFill>
              </a:rPr>
              <a:t>One-click + / −; stock can never go below zero</a:t>
            </a:r>
            <a:endParaRPr lang="en-US" sz="1800" dirty="0"/>
          </a:p>
        </p:txBody>
      </p:sp>
      <p:sp>
        <p:nvSpPr>
          <p:cNvPr id="8" name="Feature 3 badge"/>
          <p:cNvSpPr txBox="1"/>
          <p:nvPr/>
        </p:nvSpPr>
        <p:spPr>
          <a:xfrm>
            <a:off x="548640" y="397764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9" name="Text 7"/>
          <p:cNvSpPr txBox="1"/>
          <p:nvPr/>
        </p:nvSpPr>
        <p:spPr>
          <a:xfrm>
            <a:off x="1280160" y="3867912"/>
            <a:ext cx="4023360" cy="868680"/>
          </a:xfrm>
          <a:prstGeom prst="rect">
            <a:avLst/>
          </a:prstGeom>
          <a:noFill/>
          <a:ln/>
        </p:spPr>
        <p:txBody>
          <a:bodyPr wrap="square" lIns="0" tIns="0" rIns="0" bIns="0" rtlCol="0" anchor="t"/>
          <a:lstStyle/>
          <a:p>
            <a:pPr indent="0" marL="0">
              <a:buNone/>
            </a:pPr>
            <a:r>
              <a:rPr lang="en-US" sz="1800" b="1" dirty="0">
                <a:solidFill>
                  <a:schemeClr val="tx1"/>
                </a:solidFill>
              </a:rPr>
              <a:t>Reorder alerts and value</a:t>
            </a:r>
            <a:endParaRPr lang="en-US" sz="1800" dirty="0"/>
          </a:p>
          <a:p>
            <a:pPr indent="0" marL="0">
              <a:buNone/>
            </a:pPr>
            <a:r>
              <a:rPr lang="en-US" sz="1400" dirty="0">
                <a:solidFill>
                  <a:schemeClr val="accent4"/>
                </a:solidFill>
              </a:rPr>
              <a:t>Low / out-of-stock badges and total inventory value</a:t>
            </a:r>
            <a:endParaRPr lang="en-US" sz="1800" dirty="0"/>
          </a:p>
        </p:txBody>
      </p:sp>
      <p:sp>
        <p:nvSpPr>
          <p:cNvPr id="10" name="Text 8"/>
          <p:cNvSpPr txBox="1"/>
          <p:nvPr/>
        </p:nvSpPr>
        <p:spPr>
          <a:xfrm>
            <a:off x="548640" y="5349240"/>
            <a:ext cx="4846320" cy="365760"/>
          </a:xfrm>
          <a:prstGeom prst="rect">
            <a:avLst/>
          </a:prstGeom>
          <a:noFill/>
          <a:ln/>
        </p:spPr>
        <p:txBody>
          <a:bodyPr wrap="square" lIns="0" tIns="0" rIns="0" bIns="0" rtlCol="0" anchor="ctr"/>
          <a:lstStyle/>
          <a:p>
            <a:pPr indent="0" marL="0">
              <a:buNone/>
            </a:pPr>
            <a:r>
              <a:rPr lang="en-US" sz="1300" i="1" dirty="0">
                <a:solidFill>
                  <a:schemeClr val="accent1"/>
                </a:solidFill>
              </a:rPr>
              <a:t>React · FastAPI · PostgreSQL · Alembic · 10 REST endpoints</a:t>
            </a:r>
            <a:endParaRPr lang="en-US" sz="1300" dirty="0"/>
          </a:p>
        </p:txBody>
      </p:sp>
      <p:sp>
        <p:nvSpPr>
          <p:cNvPr id="11" name="App on localhost:3000 frame"/>
          <p:cNvSpPr/>
          <p:nvPr/>
        </p:nvSpPr>
        <p:spPr>
          <a:xfrm>
            <a:off x="5715000" y="1836026"/>
            <a:ext cx="5989320" cy="3780307"/>
          </a:xfrm>
          <a:prstGeom prst="rect">
            <a:avLst/>
          </a:prstGeom>
          <a:solidFill>
            <a:schemeClr val="bg1"/>
          </a:solidFill>
          <a:ln w="9525">
            <a:solidFill>
              <a:srgbClr val="C9D6D2"/>
            </a:solidFill>
            <a:prstDash val="solid"/>
          </a:ln>
          <a:effectLst>
            <a:outerShdw sx="100000" sy="100000" kx="0" ky="0" algn="bl" rotWithShape="0" blurRad="101600" dist="25400" dir="5400000">
              <a:srgbClr val="000000">
                <a:alpha val="16000"/>
              </a:srgbClr>
            </a:outerShdw>
          </a:effectLst>
        </p:spPr>
      </p:sp>
      <p:pic>
        <p:nvPicPr>
          <p:cNvPr id="12" name="App on localhost:3000" descr="App on localhost:3000">    </p:cNvPr>
          <p:cNvPicPr>
            <a:picLocks noChangeAspect="1"/>
          </p:cNvPicPr>
          <p:nvPr/>
        </p:nvPicPr>
        <p:blipFill>
          <a:blip r:embed="rId1"/>
          <a:stretch>
            <a:fillRect/>
          </a:stretch>
        </p:blipFill>
        <p:spPr>
          <a:xfrm>
            <a:off x="5760720" y="1881746"/>
            <a:ext cx="5897880" cy="3688867"/>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3400" b="1" dirty="0">
                <a:solidFill>
                  <a:schemeClr val="tx1"/>
                </a:solidFill>
              </a:rPr>
              <a:t>Architecture</a:t>
            </a:r>
            <a:endParaRPr lang="en-US" sz="3400" dirty="0"/>
          </a:p>
        </p:txBody>
      </p:sp>
      <p:sp>
        <p:nvSpPr>
          <p:cNvPr id="3" name="Developer"/>
          <p:cNvSpPr txBox="1"/>
          <p:nvPr/>
        </p:nvSpPr>
        <p:spPr>
          <a:xfrm>
            <a:off x="548640" y="1371600"/>
            <a:ext cx="2331720" cy="868680"/>
          </a:xfrm>
          <a:prstGeom prst="roundRect">
            <a:avLst>
              <a:gd name="adj" fmla="val 10526"/>
            </a:avLst>
          </a:prstGeom>
          <a:solidFill>
            <a:schemeClr val="bg1"/>
          </a:solidFill>
          <a:ln w="12700">
            <a:solidFill>
              <a:srgbClr val="B8CCC7"/>
            </a:solidFill>
          </a:ln>
        </p:spPr>
        <p:txBody>
          <a:bodyPr wrap="square" lIns="76200" tIns="76200" rIns="76200" bIns="76200" rtlCol="0" anchor="ctr"/>
          <a:lstStyle/>
          <a:p>
            <a:pPr algn="ctr" indent="0" marL="0">
              <a:buNone/>
            </a:pPr>
            <a:r>
              <a:rPr lang="en-US" sz="1400" b="1" dirty="0">
                <a:solidFill>
                  <a:schemeClr val="tx1"/>
                </a:solidFill>
              </a:rPr>
              <a:t>Developer</a:t>
            </a:r>
            <a:endParaRPr lang="en-US" sz="1400" dirty="0"/>
          </a:p>
          <a:p>
            <a:pPr algn="ctr" indent="0" marL="0">
              <a:buNone/>
            </a:pPr>
            <a:r>
              <a:rPr lang="en-US" sz="1100" dirty="0">
                <a:solidFill>
                  <a:schemeClr val="accent4"/>
                </a:solidFill>
              </a:rPr>
              <a:t>git push to main</a:t>
            </a:r>
            <a:endParaRPr lang="en-US" sz="1400" dirty="0"/>
          </a:p>
        </p:txBody>
      </p:sp>
      <p:sp>
        <p:nvSpPr>
          <p:cNvPr id="4" name="Shape 2"/>
          <p:cNvSpPr/>
          <p:nvPr/>
        </p:nvSpPr>
        <p:spPr>
          <a:xfrm>
            <a:off x="2880360" y="1805940"/>
            <a:ext cx="548640" cy="0"/>
          </a:xfrm>
          <a:prstGeom prst="line">
            <a:avLst/>
          </a:prstGeom>
          <a:noFill/>
          <a:ln w="22225">
            <a:solidFill>
              <a:schemeClr val="accent1"/>
            </a:solidFill>
            <a:prstDash val="solid"/>
            <a:tailEnd type="triangle"/>
          </a:ln>
        </p:spPr>
      </p:sp>
      <p:sp>
        <p:nvSpPr>
          <p:cNvPr id="5" name="GitHub Actions"/>
          <p:cNvSpPr txBox="1"/>
          <p:nvPr/>
        </p:nvSpPr>
        <p:spPr>
          <a:xfrm>
            <a:off x="3429000" y="1371600"/>
            <a:ext cx="2331720" cy="868680"/>
          </a:xfrm>
          <a:prstGeom prst="roundRect">
            <a:avLst>
              <a:gd name="adj" fmla="val 10526"/>
            </a:avLst>
          </a:prstGeom>
          <a:solidFill>
            <a:schemeClr val="bg2"/>
          </a:solidFill>
          <a:ln w="12700">
            <a:solidFill>
              <a:srgbClr val="B8CCC7"/>
            </a:solidFill>
          </a:ln>
        </p:spPr>
        <p:txBody>
          <a:bodyPr wrap="square" lIns="76200" tIns="76200" rIns="76200" bIns="76200" rtlCol="0" anchor="ctr"/>
          <a:lstStyle/>
          <a:p>
            <a:pPr algn="ctr" indent="0" marL="0">
              <a:buNone/>
            </a:pPr>
            <a:r>
              <a:rPr lang="en-US" sz="1400" b="1" dirty="0">
                <a:solidFill>
                  <a:schemeClr val="tx1"/>
                </a:solidFill>
              </a:rPr>
              <a:t>GitHub Actions</a:t>
            </a:r>
            <a:endParaRPr lang="en-US" sz="1400" dirty="0"/>
          </a:p>
          <a:p>
            <a:pPr algn="ctr" indent="0" marL="0">
              <a:buNone/>
            </a:pPr>
            <a:r>
              <a:rPr lang="en-US" sz="1100" dirty="0">
                <a:solidFill>
                  <a:schemeClr val="accent4"/>
                </a:solidFill>
              </a:rPr>
              <a:t>test · lint · build · Trivy</a:t>
            </a:r>
            <a:endParaRPr lang="en-US" sz="1400" dirty="0"/>
          </a:p>
        </p:txBody>
      </p:sp>
      <p:sp>
        <p:nvSpPr>
          <p:cNvPr id="6" name="Shape 4"/>
          <p:cNvSpPr/>
          <p:nvPr/>
        </p:nvSpPr>
        <p:spPr>
          <a:xfrm>
            <a:off x="5760720" y="1805940"/>
            <a:ext cx="548640" cy="0"/>
          </a:xfrm>
          <a:prstGeom prst="line">
            <a:avLst/>
          </a:prstGeom>
          <a:noFill/>
          <a:ln w="22225">
            <a:solidFill>
              <a:schemeClr val="accent1"/>
            </a:solidFill>
            <a:prstDash val="solid"/>
            <a:tailEnd type="triangle"/>
          </a:ln>
        </p:spPr>
      </p:sp>
      <p:sp>
        <p:nvSpPr>
          <p:cNvPr id="7" name="GHCR"/>
          <p:cNvSpPr txBox="1"/>
          <p:nvPr/>
        </p:nvSpPr>
        <p:spPr>
          <a:xfrm>
            <a:off x="6309360" y="1371600"/>
            <a:ext cx="2331720" cy="868680"/>
          </a:xfrm>
          <a:prstGeom prst="roundRect">
            <a:avLst>
              <a:gd name="adj" fmla="val 10526"/>
            </a:avLst>
          </a:prstGeom>
          <a:solidFill>
            <a:schemeClr val="bg1"/>
          </a:solidFill>
          <a:ln w="12700">
            <a:solidFill>
              <a:srgbClr val="B8CCC7"/>
            </a:solidFill>
          </a:ln>
        </p:spPr>
        <p:txBody>
          <a:bodyPr wrap="square" lIns="76200" tIns="76200" rIns="76200" bIns="76200" rtlCol="0" anchor="ctr"/>
          <a:lstStyle/>
          <a:p>
            <a:pPr algn="ctr" indent="0" marL="0">
              <a:buNone/>
            </a:pPr>
            <a:r>
              <a:rPr lang="en-US" sz="1400" b="1" dirty="0">
                <a:solidFill>
                  <a:schemeClr val="tx1"/>
                </a:solidFill>
              </a:rPr>
              <a:t>GHCR</a:t>
            </a:r>
            <a:endParaRPr lang="en-US" sz="1400" dirty="0"/>
          </a:p>
          <a:p>
            <a:pPr algn="ctr" indent="0" marL="0">
              <a:buNone/>
            </a:pPr>
            <a:r>
              <a:rPr lang="en-US" sz="1100" dirty="0">
                <a:solidFill>
                  <a:schemeClr val="accent4"/>
                </a:solidFill>
              </a:rPr>
              <a:t>images tagged with commit SHA</a:t>
            </a:r>
            <a:endParaRPr lang="en-US" sz="1400" dirty="0"/>
          </a:p>
        </p:txBody>
      </p:sp>
      <p:sp>
        <p:nvSpPr>
          <p:cNvPr id="8" name="Shape 6"/>
          <p:cNvSpPr/>
          <p:nvPr/>
        </p:nvSpPr>
        <p:spPr>
          <a:xfrm>
            <a:off x="8641080" y="1805940"/>
            <a:ext cx="548640" cy="0"/>
          </a:xfrm>
          <a:prstGeom prst="line">
            <a:avLst/>
          </a:prstGeom>
          <a:noFill/>
          <a:ln w="22225">
            <a:solidFill>
              <a:schemeClr val="accent1"/>
            </a:solidFill>
            <a:prstDash val="solid"/>
            <a:tailEnd type="triangle"/>
          </a:ln>
        </p:spPr>
      </p:sp>
      <p:sp>
        <p:nvSpPr>
          <p:cNvPr id="9" name="Helm deploy"/>
          <p:cNvSpPr txBox="1"/>
          <p:nvPr/>
        </p:nvSpPr>
        <p:spPr>
          <a:xfrm>
            <a:off x="9189720" y="1371600"/>
            <a:ext cx="2331720" cy="868680"/>
          </a:xfrm>
          <a:prstGeom prst="roundRect">
            <a:avLst>
              <a:gd name="adj" fmla="val 10526"/>
            </a:avLst>
          </a:prstGeom>
          <a:solidFill>
            <a:schemeClr val="bg1"/>
          </a:solidFill>
          <a:ln w="12700">
            <a:solidFill>
              <a:srgbClr val="B8CCC7"/>
            </a:solidFill>
          </a:ln>
        </p:spPr>
        <p:txBody>
          <a:bodyPr wrap="square" lIns="76200" tIns="76200" rIns="76200" bIns="76200" rtlCol="0" anchor="ctr"/>
          <a:lstStyle/>
          <a:p>
            <a:pPr algn="ctr" indent="0" marL="0">
              <a:buNone/>
            </a:pPr>
            <a:r>
              <a:rPr lang="en-US" sz="1400" b="1" dirty="0">
                <a:solidFill>
                  <a:schemeClr val="tx1"/>
                </a:solidFill>
              </a:rPr>
              <a:t>Helm deploy</a:t>
            </a:r>
            <a:endParaRPr lang="en-US" sz="1400" dirty="0"/>
          </a:p>
          <a:p>
            <a:pPr algn="ctr" indent="0" marL="0">
              <a:buNone/>
            </a:pPr>
            <a:r>
              <a:rPr lang="en-US" sz="1100" dirty="0">
                <a:solidFill>
                  <a:schemeClr val="accent4"/>
                </a:solidFill>
              </a:rPr>
              <a:t>keyless AWS login (OIDC)</a:t>
            </a:r>
            <a:endParaRPr lang="en-US" sz="1400" dirty="0"/>
          </a:p>
        </p:txBody>
      </p:sp>
      <p:sp>
        <p:nvSpPr>
          <p:cNvPr id="10" name="Shape 8"/>
          <p:cNvSpPr/>
          <p:nvPr/>
        </p:nvSpPr>
        <p:spPr>
          <a:xfrm>
            <a:off x="10355580" y="2240280"/>
            <a:ext cx="0" cy="502920"/>
          </a:xfrm>
          <a:prstGeom prst="line">
            <a:avLst/>
          </a:prstGeom>
          <a:noFill/>
          <a:ln w="22225">
            <a:solidFill>
              <a:schemeClr val="accent1"/>
            </a:solidFill>
            <a:prstDash val="solid"/>
            <a:tailEnd type="triangle"/>
          </a:ln>
        </p:spPr>
      </p:sp>
      <p:sp>
        <p:nvSpPr>
          <p:cNvPr id="11" name="AWS boundary"/>
          <p:cNvSpPr/>
          <p:nvPr/>
        </p:nvSpPr>
        <p:spPr>
          <a:xfrm>
            <a:off x="548640" y="2743200"/>
            <a:ext cx="11109960" cy="3474720"/>
          </a:xfrm>
          <a:prstGeom prst="roundRect">
            <a:avLst>
              <a:gd name="adj" fmla="val 3158"/>
            </a:avLst>
          </a:prstGeom>
          <a:solidFill>
            <a:schemeClr val="bg2"/>
          </a:solidFill>
          <a:ln w="15875">
            <a:solidFill>
              <a:schemeClr val="accent1"/>
            </a:solidFill>
            <a:prstDash val="dash"/>
          </a:ln>
        </p:spPr>
      </p:sp>
      <p:sp>
        <p:nvSpPr>
          <p:cNvPr id="12" name="Text 10"/>
          <p:cNvSpPr txBox="1"/>
          <p:nvPr/>
        </p:nvSpPr>
        <p:spPr>
          <a:xfrm>
            <a:off x="777240" y="2834640"/>
            <a:ext cx="7315200" cy="365760"/>
          </a:xfrm>
          <a:prstGeom prst="rect">
            <a:avLst/>
          </a:prstGeom>
          <a:noFill/>
          <a:ln/>
        </p:spPr>
        <p:txBody>
          <a:bodyPr wrap="square" lIns="0" tIns="0" rIns="0" bIns="0" rtlCol="0" anchor="ctr"/>
          <a:lstStyle/>
          <a:p>
            <a:pPr indent="0" marL="0">
              <a:buNone/>
            </a:pPr>
            <a:r>
              <a:rPr lang="en-US" sz="1300" b="1" dirty="0">
                <a:solidFill>
                  <a:schemeClr val="accent1"/>
                </a:solidFill>
              </a:rPr>
              <a:t>AWS ap-south-1 · VPC + EKS provisioned by Terraform</a:t>
            </a:r>
            <a:endParaRPr lang="en-US" sz="1300" dirty="0"/>
          </a:p>
        </p:txBody>
      </p:sp>
      <p:sp>
        <p:nvSpPr>
          <p:cNvPr id="13" name="ingress-nginx"/>
          <p:cNvSpPr txBox="1"/>
          <p:nvPr/>
        </p:nvSpPr>
        <p:spPr>
          <a:xfrm>
            <a:off x="868680" y="3703320"/>
            <a:ext cx="2103120" cy="868680"/>
          </a:xfrm>
          <a:prstGeom prst="roundRect">
            <a:avLst>
              <a:gd name="adj" fmla="val 10526"/>
            </a:avLst>
          </a:prstGeom>
          <a:solidFill>
            <a:schemeClr val="bg1"/>
          </a:solidFill>
          <a:ln w="12700">
            <a:solidFill>
              <a:srgbClr val="B8CCC7"/>
            </a:solidFill>
          </a:ln>
        </p:spPr>
        <p:txBody>
          <a:bodyPr wrap="square" lIns="76200" tIns="76200" rIns="76200" bIns="76200" rtlCol="0" anchor="ctr"/>
          <a:lstStyle/>
          <a:p>
            <a:pPr algn="ctr" indent="0" marL="0">
              <a:buNone/>
            </a:pPr>
            <a:r>
              <a:rPr lang="en-US" sz="1400" b="1" dirty="0">
                <a:solidFill>
                  <a:schemeClr val="tx1"/>
                </a:solidFill>
              </a:rPr>
              <a:t>ingress-nginx</a:t>
            </a:r>
            <a:endParaRPr lang="en-US" sz="1400" dirty="0"/>
          </a:p>
          <a:p>
            <a:pPr algn="ctr" indent="0" marL="0">
              <a:buNone/>
            </a:pPr>
            <a:r>
              <a:rPr lang="en-US" sz="1100" dirty="0">
                <a:solidFill>
                  <a:schemeClr val="accent4"/>
                </a:solidFill>
              </a:rPr>
              <a:t>AWS load balancer</a:t>
            </a:r>
            <a:endParaRPr lang="en-US" sz="1400" dirty="0"/>
          </a:p>
        </p:txBody>
      </p:sp>
      <p:sp>
        <p:nvSpPr>
          <p:cNvPr id="14" name="Frontend ×2"/>
          <p:cNvSpPr txBox="1"/>
          <p:nvPr/>
        </p:nvSpPr>
        <p:spPr>
          <a:xfrm>
            <a:off x="3657600" y="3291840"/>
            <a:ext cx="2377440" cy="822960"/>
          </a:xfrm>
          <a:prstGeom prst="roundRect">
            <a:avLst>
              <a:gd name="adj" fmla="val 11111"/>
            </a:avLst>
          </a:prstGeom>
          <a:solidFill>
            <a:schemeClr val="bg1"/>
          </a:solidFill>
          <a:ln w="12700">
            <a:solidFill>
              <a:srgbClr val="B8CCC7"/>
            </a:solidFill>
          </a:ln>
        </p:spPr>
        <p:txBody>
          <a:bodyPr wrap="square" lIns="76200" tIns="76200" rIns="76200" bIns="76200" rtlCol="0" anchor="ctr"/>
          <a:lstStyle/>
          <a:p>
            <a:pPr algn="ctr" indent="0" marL="0">
              <a:buNone/>
            </a:pPr>
            <a:r>
              <a:rPr lang="en-US" sz="1400" b="1" dirty="0">
                <a:solidFill>
                  <a:schemeClr val="tx1"/>
                </a:solidFill>
              </a:rPr>
              <a:t>Frontend ×2</a:t>
            </a:r>
            <a:endParaRPr lang="en-US" sz="1400" dirty="0"/>
          </a:p>
          <a:p>
            <a:pPr algn="ctr" indent="0" marL="0">
              <a:buNone/>
            </a:pPr>
            <a:r>
              <a:rPr lang="en-US" sz="1100" dirty="0">
                <a:solidFill>
                  <a:schemeClr val="accent4"/>
                </a:solidFill>
              </a:rPr>
              <a:t>React + Nginx, non-root</a:t>
            </a:r>
            <a:endParaRPr lang="en-US" sz="1400" dirty="0"/>
          </a:p>
        </p:txBody>
      </p:sp>
      <p:sp>
        <p:nvSpPr>
          <p:cNvPr id="15" name="Backend ×2"/>
          <p:cNvSpPr txBox="1"/>
          <p:nvPr/>
        </p:nvSpPr>
        <p:spPr>
          <a:xfrm>
            <a:off x="3657600" y="4526280"/>
            <a:ext cx="2377440" cy="822960"/>
          </a:xfrm>
          <a:prstGeom prst="roundRect">
            <a:avLst>
              <a:gd name="adj" fmla="val 11111"/>
            </a:avLst>
          </a:prstGeom>
          <a:solidFill>
            <a:schemeClr val="bg1"/>
          </a:solidFill>
          <a:ln w="12700">
            <a:solidFill>
              <a:srgbClr val="B8CCC7"/>
            </a:solidFill>
          </a:ln>
        </p:spPr>
        <p:txBody>
          <a:bodyPr wrap="square" lIns="76200" tIns="76200" rIns="76200" bIns="76200" rtlCol="0" anchor="ctr"/>
          <a:lstStyle/>
          <a:p>
            <a:pPr algn="ctr" indent="0" marL="0">
              <a:buNone/>
            </a:pPr>
            <a:r>
              <a:rPr lang="en-US" sz="1400" b="1" dirty="0">
                <a:solidFill>
                  <a:schemeClr val="tx1"/>
                </a:solidFill>
              </a:rPr>
              <a:t>Backend ×2</a:t>
            </a:r>
            <a:endParaRPr lang="en-US" sz="1400" dirty="0"/>
          </a:p>
          <a:p>
            <a:pPr algn="ctr" indent="0" marL="0">
              <a:buNone/>
            </a:pPr>
            <a:r>
              <a:rPr lang="en-US" sz="1100" dirty="0">
                <a:solidFill>
                  <a:schemeClr val="accent4"/>
                </a:solidFill>
              </a:rPr>
              <a:t>FastAPI · HPA 2→8</a:t>
            </a:r>
            <a:endParaRPr lang="en-US" sz="1400" dirty="0"/>
          </a:p>
        </p:txBody>
      </p:sp>
      <p:sp>
        <p:nvSpPr>
          <p:cNvPr id="16" name="PostgreSQL"/>
          <p:cNvSpPr txBox="1"/>
          <p:nvPr/>
        </p:nvSpPr>
        <p:spPr>
          <a:xfrm>
            <a:off x="6720840" y="4526280"/>
            <a:ext cx="2194560" cy="822960"/>
          </a:xfrm>
          <a:prstGeom prst="roundRect">
            <a:avLst>
              <a:gd name="adj" fmla="val 11111"/>
            </a:avLst>
          </a:prstGeom>
          <a:solidFill>
            <a:schemeClr val="bg1"/>
          </a:solidFill>
          <a:ln w="12700">
            <a:solidFill>
              <a:srgbClr val="B8CCC7"/>
            </a:solidFill>
          </a:ln>
        </p:spPr>
        <p:txBody>
          <a:bodyPr wrap="square" lIns="76200" tIns="76200" rIns="76200" bIns="76200" rtlCol="0" anchor="ctr"/>
          <a:lstStyle/>
          <a:p>
            <a:pPr algn="ctr" indent="0" marL="0">
              <a:buNone/>
            </a:pPr>
            <a:r>
              <a:rPr lang="en-US" sz="1400" b="1" dirty="0">
                <a:solidFill>
                  <a:schemeClr val="tx1"/>
                </a:solidFill>
              </a:rPr>
              <a:t>PostgreSQL</a:t>
            </a:r>
            <a:endParaRPr lang="en-US" sz="1400" dirty="0"/>
          </a:p>
          <a:p>
            <a:pPr algn="ctr" indent="0" marL="0">
              <a:buNone/>
            </a:pPr>
            <a:r>
              <a:rPr lang="en-US" sz="1100" dirty="0">
                <a:solidFill>
                  <a:schemeClr val="accent4"/>
                </a:solidFill>
              </a:rPr>
              <a:t>StatefulSet · EBS gp3</a:t>
            </a:r>
            <a:endParaRPr lang="en-US" sz="1400" dirty="0"/>
          </a:p>
        </p:txBody>
      </p:sp>
      <p:sp>
        <p:nvSpPr>
          <p:cNvPr id="17" name="Prometheus"/>
          <p:cNvSpPr txBox="1"/>
          <p:nvPr/>
        </p:nvSpPr>
        <p:spPr>
          <a:xfrm>
            <a:off x="6720840" y="3291840"/>
            <a:ext cx="2194560" cy="822960"/>
          </a:xfrm>
          <a:prstGeom prst="roundRect">
            <a:avLst>
              <a:gd name="adj" fmla="val 11111"/>
            </a:avLst>
          </a:prstGeom>
          <a:solidFill>
            <a:schemeClr val="bg1"/>
          </a:solidFill>
          <a:ln w="12700">
            <a:solidFill>
              <a:srgbClr val="B8CCC7"/>
            </a:solidFill>
          </a:ln>
        </p:spPr>
        <p:txBody>
          <a:bodyPr wrap="square" lIns="76200" tIns="76200" rIns="76200" bIns="76200" rtlCol="0" anchor="ctr"/>
          <a:lstStyle/>
          <a:p>
            <a:pPr algn="ctr" indent="0" marL="0">
              <a:buNone/>
            </a:pPr>
            <a:r>
              <a:rPr lang="en-US" sz="1400" b="1" dirty="0">
                <a:solidFill>
                  <a:schemeClr val="tx1"/>
                </a:solidFill>
              </a:rPr>
              <a:t>Prometheus</a:t>
            </a:r>
            <a:endParaRPr lang="en-US" sz="1400" dirty="0"/>
          </a:p>
          <a:p>
            <a:pPr algn="ctr" indent="0" marL="0">
              <a:buNone/>
            </a:pPr>
            <a:r>
              <a:rPr lang="en-US" sz="1100" dirty="0">
                <a:solidFill>
                  <a:schemeClr val="accent4"/>
                </a:solidFill>
              </a:rPr>
              <a:t>scrapes /metrics</a:t>
            </a:r>
            <a:endParaRPr lang="en-US" sz="1400" dirty="0"/>
          </a:p>
        </p:txBody>
      </p:sp>
      <p:sp>
        <p:nvSpPr>
          <p:cNvPr id="18" name="Grafana"/>
          <p:cNvSpPr txBox="1"/>
          <p:nvPr/>
        </p:nvSpPr>
        <p:spPr>
          <a:xfrm>
            <a:off x="9418320" y="3291840"/>
            <a:ext cx="1920240" cy="822960"/>
          </a:xfrm>
          <a:prstGeom prst="roundRect">
            <a:avLst>
              <a:gd name="adj" fmla="val 11111"/>
            </a:avLst>
          </a:prstGeom>
          <a:solidFill>
            <a:schemeClr val="bg1"/>
          </a:solidFill>
          <a:ln w="12700">
            <a:solidFill>
              <a:srgbClr val="B8CCC7"/>
            </a:solidFill>
          </a:ln>
        </p:spPr>
        <p:txBody>
          <a:bodyPr wrap="square" lIns="76200" tIns="76200" rIns="76200" bIns="76200" rtlCol="0" anchor="ctr"/>
          <a:lstStyle/>
          <a:p>
            <a:pPr algn="ctr" indent="0" marL="0">
              <a:buNone/>
            </a:pPr>
            <a:r>
              <a:rPr lang="en-US" sz="1400" b="1" dirty="0">
                <a:solidFill>
                  <a:schemeClr val="tx1"/>
                </a:solidFill>
              </a:rPr>
              <a:t>Grafana</a:t>
            </a:r>
            <a:endParaRPr lang="en-US" sz="1400" dirty="0"/>
          </a:p>
          <a:p>
            <a:pPr algn="ctr" indent="0" marL="0">
              <a:buNone/>
            </a:pPr>
            <a:r>
              <a:rPr lang="en-US" sz="1100" dirty="0">
                <a:solidFill>
                  <a:schemeClr val="accent4"/>
                </a:solidFill>
              </a:rPr>
              <a:t>live dashboard</a:t>
            </a:r>
            <a:endParaRPr lang="en-US" sz="1400" dirty="0"/>
          </a:p>
        </p:txBody>
      </p:sp>
      <p:sp>
        <p:nvSpPr>
          <p:cNvPr id="19" name="Shape 17"/>
          <p:cNvSpPr/>
          <p:nvPr/>
        </p:nvSpPr>
        <p:spPr>
          <a:xfrm flipV="1">
            <a:off x="2971800" y="3703320"/>
            <a:ext cx="685800" cy="434340"/>
          </a:xfrm>
          <a:prstGeom prst="line">
            <a:avLst/>
          </a:prstGeom>
          <a:noFill/>
          <a:ln w="22225">
            <a:solidFill>
              <a:schemeClr val="accent1"/>
            </a:solidFill>
            <a:prstDash val="solid"/>
            <a:tailEnd type="triangle"/>
          </a:ln>
        </p:spPr>
      </p:sp>
      <p:sp>
        <p:nvSpPr>
          <p:cNvPr id="20" name="Shape 18"/>
          <p:cNvSpPr/>
          <p:nvPr/>
        </p:nvSpPr>
        <p:spPr>
          <a:xfrm>
            <a:off x="2971800" y="4137660"/>
            <a:ext cx="685800" cy="800100"/>
          </a:xfrm>
          <a:prstGeom prst="line">
            <a:avLst/>
          </a:prstGeom>
          <a:noFill/>
          <a:ln w="22225">
            <a:solidFill>
              <a:schemeClr val="accent1"/>
            </a:solidFill>
            <a:prstDash val="solid"/>
            <a:tailEnd type="triangle"/>
          </a:ln>
        </p:spPr>
      </p:sp>
      <p:sp>
        <p:nvSpPr>
          <p:cNvPr id="21" name="Text 19"/>
          <p:cNvSpPr txBox="1"/>
          <p:nvPr/>
        </p:nvSpPr>
        <p:spPr>
          <a:xfrm>
            <a:off x="3063240" y="3429000"/>
            <a:ext cx="274320" cy="274320"/>
          </a:xfrm>
          <a:prstGeom prst="rect">
            <a:avLst/>
          </a:prstGeom>
          <a:noFill/>
          <a:ln/>
        </p:spPr>
        <p:txBody>
          <a:bodyPr wrap="square" lIns="0" tIns="0" rIns="0" bIns="0" rtlCol="0" anchor="ctr"/>
          <a:lstStyle/>
          <a:p>
            <a:pPr indent="0" marL="0">
              <a:buNone/>
            </a:pPr>
            <a:r>
              <a:rPr lang="en-US" sz="1200" b="1" dirty="0">
                <a:solidFill>
                  <a:schemeClr val="accent1"/>
                </a:solidFill>
              </a:rPr>
              <a:t>/</a:t>
            </a:r>
            <a:endParaRPr lang="en-US" sz="1200" dirty="0"/>
          </a:p>
        </p:txBody>
      </p:sp>
      <p:sp>
        <p:nvSpPr>
          <p:cNvPr id="22" name="Text 20"/>
          <p:cNvSpPr txBox="1"/>
          <p:nvPr/>
        </p:nvSpPr>
        <p:spPr>
          <a:xfrm>
            <a:off x="3017520" y="4572000"/>
            <a:ext cx="457200" cy="274320"/>
          </a:xfrm>
          <a:prstGeom prst="rect">
            <a:avLst/>
          </a:prstGeom>
          <a:noFill/>
          <a:ln/>
        </p:spPr>
        <p:txBody>
          <a:bodyPr wrap="square" lIns="0" tIns="0" rIns="0" bIns="0" rtlCol="0" anchor="ctr"/>
          <a:lstStyle/>
          <a:p>
            <a:pPr indent="0" marL="0">
              <a:buNone/>
            </a:pPr>
            <a:r>
              <a:rPr lang="en-US" sz="1200" b="1" dirty="0">
                <a:solidFill>
                  <a:schemeClr val="accent1"/>
                </a:solidFill>
              </a:rPr>
              <a:t>/api</a:t>
            </a:r>
            <a:endParaRPr lang="en-US" sz="1200" dirty="0"/>
          </a:p>
        </p:txBody>
      </p:sp>
      <p:sp>
        <p:nvSpPr>
          <p:cNvPr id="23" name="Shape 21"/>
          <p:cNvSpPr/>
          <p:nvPr/>
        </p:nvSpPr>
        <p:spPr>
          <a:xfrm>
            <a:off x="6035040" y="4937760"/>
            <a:ext cx="685800" cy="0"/>
          </a:xfrm>
          <a:prstGeom prst="line">
            <a:avLst/>
          </a:prstGeom>
          <a:noFill/>
          <a:ln w="22225">
            <a:solidFill>
              <a:schemeClr val="accent1"/>
            </a:solidFill>
            <a:prstDash val="solid"/>
            <a:tailEnd type="triangle"/>
          </a:ln>
        </p:spPr>
      </p:sp>
      <p:sp>
        <p:nvSpPr>
          <p:cNvPr id="24" name="Shape 22"/>
          <p:cNvSpPr/>
          <p:nvPr/>
        </p:nvSpPr>
        <p:spPr>
          <a:xfrm flipH="1">
            <a:off x="6035040" y="3703320"/>
            <a:ext cx="685800" cy="1234440"/>
          </a:xfrm>
          <a:prstGeom prst="line">
            <a:avLst/>
          </a:prstGeom>
          <a:noFill/>
          <a:ln w="22225">
            <a:solidFill>
              <a:schemeClr val="accent1"/>
            </a:solidFill>
            <a:prstDash val="dash"/>
            <a:tailEnd type="triangle"/>
          </a:ln>
        </p:spPr>
      </p:sp>
      <p:sp>
        <p:nvSpPr>
          <p:cNvPr id="25" name="Shape 23"/>
          <p:cNvSpPr/>
          <p:nvPr/>
        </p:nvSpPr>
        <p:spPr>
          <a:xfrm>
            <a:off x="8915400" y="3703320"/>
            <a:ext cx="502920" cy="0"/>
          </a:xfrm>
          <a:prstGeom prst="line">
            <a:avLst/>
          </a:prstGeom>
          <a:noFill/>
          <a:ln w="22225">
            <a:solidFill>
              <a:schemeClr val="accent1"/>
            </a:solidFill>
            <a:prstDash val="solid"/>
            <a:headEnd type="triangle"/>
          </a:ln>
        </p:spPr>
      </p:sp>
      <p:sp>
        <p:nvSpPr>
          <p:cNvPr id="26" name="Text 24"/>
          <p:cNvSpPr txBox="1"/>
          <p:nvPr/>
        </p:nvSpPr>
        <p:spPr>
          <a:xfrm>
            <a:off x="868680" y="5623560"/>
            <a:ext cx="10424160" cy="365760"/>
          </a:xfrm>
          <a:prstGeom prst="rect">
            <a:avLst/>
          </a:prstGeom>
          <a:noFill/>
          <a:ln/>
        </p:spPr>
        <p:txBody>
          <a:bodyPr wrap="square" lIns="0" tIns="0" rIns="0" bIns="0" rtlCol="0" anchor="ctr"/>
          <a:lstStyle/>
          <a:p>
            <a:pPr indent="0" marL="0">
              <a:buNone/>
            </a:pPr>
            <a:r>
              <a:rPr lang="en-US" sz="1200" dirty="0">
                <a:solidFill>
                  <a:schemeClr val="accent4"/>
                </a:solidFill>
              </a:rPr>
              <a:t>Also in the cluster: metrics-server (feeds the HPA) and the EBS CSI driver (Postgres volume)</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3400" b="1" dirty="0">
                <a:solidFill>
                  <a:schemeClr val="tx1"/>
                </a:solidFill>
              </a:rPr>
              <a:t>CI/CD on every push to main</a:t>
            </a:r>
            <a:endParaRPr lang="en-US" sz="3400" dirty="0"/>
          </a:p>
        </p:txBody>
      </p:sp>
      <p:sp>
        <p:nvSpPr>
          <p:cNvPr id="3" name="Module chip"/>
          <p:cNvSpPr txBox="1"/>
          <p:nvPr/>
        </p:nvSpPr>
        <p:spPr>
          <a:xfrm>
            <a:off x="9555480" y="502920"/>
            <a:ext cx="2103120" cy="411480"/>
          </a:xfrm>
          <a:prstGeom prst="roundRect">
            <a:avLst>
              <a:gd name="adj" fmla="val 40000"/>
            </a:avLst>
          </a:prstGeom>
          <a:solidFill>
            <a:schemeClr val="bg2"/>
          </a:solidFill>
          <a:ln/>
        </p:spPr>
        <p:txBody>
          <a:bodyPr wrap="square" lIns="0" tIns="0" rIns="0" bIns="0" rtlCol="0" anchor="ctr"/>
          <a:lstStyle/>
          <a:p>
            <a:pPr algn="ctr" indent="0" marL="0">
              <a:buNone/>
            </a:pPr>
            <a:r>
              <a:rPr lang="en-US" sz="1200" b="1" dirty="0">
                <a:solidFill>
                  <a:schemeClr val="accent1"/>
                </a:solidFill>
              </a:rPr>
              <a:t>M5 · CI/CD</a:t>
            </a:r>
            <a:endParaRPr lang="en-US" sz="1200" dirty="0"/>
          </a:p>
        </p:txBody>
      </p:sp>
      <p:sp>
        <p:nvSpPr>
          <p:cNvPr id="4" name="Stage Test"/>
          <p:cNvSpPr txBox="1"/>
          <p:nvPr/>
        </p:nvSpPr>
        <p:spPr>
          <a:xfrm>
            <a:off x="548640" y="1371600"/>
            <a:ext cx="2606040" cy="914400"/>
          </a:xfrm>
          <a:prstGeom prst="roundRect">
            <a:avLst>
              <a:gd name="adj" fmla="val 10000"/>
            </a:avLst>
          </a:prstGeom>
          <a:solidFill>
            <a:schemeClr val="tx2"/>
          </a:solidFill>
          <a:ln/>
        </p:spPr>
        <p:txBody>
          <a:bodyPr wrap="square" lIns="152400" tIns="152400" rIns="152400" bIns="152400" rtlCol="0" anchor="ctr"/>
          <a:lstStyle/>
          <a:p>
            <a:pPr algn="l" indent="0" marL="0">
              <a:buNone/>
            </a:pPr>
            <a:r>
              <a:rPr lang="en-US" sz="1600" b="1" dirty="0">
                <a:solidFill>
                  <a:schemeClr val="bg1"/>
                </a:solidFill>
              </a:rPr>
              <a:t>1  Test</a:t>
            </a:r>
            <a:endParaRPr lang="en-US" sz="1600" dirty="0"/>
          </a:p>
          <a:p>
            <a:pPr algn="l" indent="0" marL="0">
              <a:buNone/>
            </a:pPr>
            <a:r>
              <a:rPr lang="en-US" sz="1200" dirty="0">
                <a:solidFill>
                  <a:schemeClr val="bg2"/>
                </a:solidFill>
              </a:rPr>
              <a:t>pytest (19) + frontend build</a:t>
            </a:r>
            <a:endParaRPr lang="en-US" sz="1600" dirty="0"/>
          </a:p>
        </p:txBody>
      </p:sp>
      <p:sp>
        <p:nvSpPr>
          <p:cNvPr id="5" name="Stage Lint"/>
          <p:cNvSpPr txBox="1"/>
          <p:nvPr/>
        </p:nvSpPr>
        <p:spPr>
          <a:xfrm>
            <a:off x="3383280" y="1371600"/>
            <a:ext cx="2606040" cy="914400"/>
          </a:xfrm>
          <a:prstGeom prst="roundRect">
            <a:avLst>
              <a:gd name="adj" fmla="val 10000"/>
            </a:avLst>
          </a:prstGeom>
          <a:solidFill>
            <a:schemeClr val="tx2"/>
          </a:solidFill>
          <a:ln/>
        </p:spPr>
        <p:txBody>
          <a:bodyPr wrap="square" lIns="152400" tIns="152400" rIns="152400" bIns="152400" rtlCol="0" anchor="ctr"/>
          <a:lstStyle/>
          <a:p>
            <a:pPr algn="l" indent="0" marL="0">
              <a:buNone/>
            </a:pPr>
            <a:r>
              <a:rPr lang="en-US" sz="1600" b="1" dirty="0">
                <a:solidFill>
                  <a:schemeClr val="bg1"/>
                </a:solidFill>
              </a:rPr>
              <a:t>2  Lint</a:t>
            </a:r>
            <a:endParaRPr lang="en-US" sz="1600" dirty="0"/>
          </a:p>
          <a:p>
            <a:pPr algn="l" indent="0" marL="0">
              <a:buNone/>
            </a:pPr>
            <a:r>
              <a:rPr lang="en-US" sz="1200" dirty="0">
                <a:solidFill>
                  <a:schemeClr val="bg2"/>
                </a:solidFill>
              </a:rPr>
              <a:t>helm lint + terraform validate</a:t>
            </a:r>
            <a:endParaRPr lang="en-US" sz="1600" dirty="0"/>
          </a:p>
        </p:txBody>
      </p:sp>
      <p:sp>
        <p:nvSpPr>
          <p:cNvPr id="6" name="Stage Build · Scan · Push"/>
          <p:cNvSpPr txBox="1"/>
          <p:nvPr/>
        </p:nvSpPr>
        <p:spPr>
          <a:xfrm>
            <a:off x="6217920" y="1371600"/>
            <a:ext cx="2606040" cy="914400"/>
          </a:xfrm>
          <a:prstGeom prst="roundRect">
            <a:avLst>
              <a:gd name="adj" fmla="val 10000"/>
            </a:avLst>
          </a:prstGeom>
          <a:solidFill>
            <a:schemeClr val="accent1"/>
          </a:solidFill>
          <a:ln/>
        </p:spPr>
        <p:txBody>
          <a:bodyPr wrap="square" lIns="152400" tIns="152400" rIns="152400" bIns="152400" rtlCol="0" anchor="ctr"/>
          <a:lstStyle/>
          <a:p>
            <a:pPr algn="l" indent="0" marL="0">
              <a:buNone/>
            </a:pPr>
            <a:r>
              <a:rPr lang="en-US" sz="1600" b="1" dirty="0">
                <a:solidFill>
                  <a:schemeClr val="bg1"/>
                </a:solidFill>
              </a:rPr>
              <a:t>3  Build · Scan · Push</a:t>
            </a:r>
            <a:endParaRPr lang="en-US" sz="1600" dirty="0"/>
          </a:p>
          <a:p>
            <a:pPr algn="l" indent="0" marL="0">
              <a:buNone/>
            </a:pPr>
            <a:r>
              <a:rPr lang="en-US" sz="1200" dirty="0">
                <a:solidFill>
                  <a:schemeClr val="bg2"/>
                </a:solidFill>
              </a:rPr>
              <a:t>SHA tags, Trivy gate, GHCR</a:t>
            </a:r>
            <a:endParaRPr lang="en-US" sz="1600" dirty="0"/>
          </a:p>
        </p:txBody>
      </p:sp>
      <p:sp>
        <p:nvSpPr>
          <p:cNvPr id="7" name="Stage Deploy"/>
          <p:cNvSpPr txBox="1"/>
          <p:nvPr/>
        </p:nvSpPr>
        <p:spPr>
          <a:xfrm>
            <a:off x="9052560" y="1371600"/>
            <a:ext cx="2606040" cy="914400"/>
          </a:xfrm>
          <a:prstGeom prst="roundRect">
            <a:avLst>
              <a:gd name="adj" fmla="val 10000"/>
            </a:avLst>
          </a:prstGeom>
          <a:solidFill>
            <a:schemeClr val="tx2"/>
          </a:solidFill>
          <a:ln/>
        </p:spPr>
        <p:txBody>
          <a:bodyPr wrap="square" lIns="152400" tIns="152400" rIns="152400" bIns="152400" rtlCol="0" anchor="ctr"/>
          <a:lstStyle/>
          <a:p>
            <a:pPr algn="l" indent="0" marL="0">
              <a:buNone/>
            </a:pPr>
            <a:r>
              <a:rPr lang="en-US" sz="1600" b="1" dirty="0">
                <a:solidFill>
                  <a:schemeClr val="bg1"/>
                </a:solidFill>
              </a:rPr>
              <a:t>4  Deploy</a:t>
            </a:r>
            <a:endParaRPr lang="en-US" sz="1600" dirty="0"/>
          </a:p>
          <a:p>
            <a:pPr algn="l" indent="0" marL="0">
              <a:buNone/>
            </a:pPr>
            <a:r>
              <a:rPr lang="en-US" sz="1200" dirty="0">
                <a:solidFill>
                  <a:schemeClr val="bg2"/>
                </a:solidFill>
              </a:rPr>
              <a:t>OIDC → helm upgrade on EKS</a:t>
            </a:r>
            <a:endParaRPr lang="en-US" sz="1600" dirty="0"/>
          </a:p>
        </p:txBody>
      </p:sp>
      <p:sp>
        <p:nvSpPr>
          <p:cNvPr id="8" name="GitHub Actions run frame"/>
          <p:cNvSpPr/>
          <p:nvPr/>
        </p:nvSpPr>
        <p:spPr>
          <a:xfrm>
            <a:off x="723168" y="2560320"/>
            <a:ext cx="6600385" cy="3703320"/>
          </a:xfrm>
          <a:prstGeom prst="rect">
            <a:avLst/>
          </a:prstGeom>
          <a:solidFill>
            <a:schemeClr val="bg1"/>
          </a:solidFill>
          <a:ln w="9525">
            <a:solidFill>
              <a:srgbClr val="C9D6D2"/>
            </a:solidFill>
            <a:prstDash val="solid"/>
          </a:ln>
          <a:effectLst>
            <a:outerShdw sx="100000" sy="100000" kx="0" ky="0" algn="bl" rotWithShape="0" blurRad="101600" dist="25400" dir="5400000">
              <a:srgbClr val="000000">
                <a:alpha val="16000"/>
              </a:srgbClr>
            </a:outerShdw>
          </a:effectLst>
        </p:spPr>
      </p:sp>
      <p:pic>
        <p:nvPicPr>
          <p:cNvPr id="9" name="GitHub Actions run" descr="GitHub Actions run">    </p:cNvPr>
          <p:cNvPicPr>
            <a:picLocks noChangeAspect="1"/>
          </p:cNvPicPr>
          <p:nvPr/>
        </p:nvPicPr>
        <p:blipFill>
          <a:blip r:embed="rId1"/>
          <a:stretch>
            <a:fillRect/>
          </a:stretch>
        </p:blipFill>
        <p:spPr>
          <a:xfrm>
            <a:off x="768888" y="2606040"/>
            <a:ext cx="6508945" cy="3611880"/>
          </a:xfrm>
          <a:prstGeom prst="rect">
            <a:avLst/>
          </a:prstGeom>
        </p:spPr>
      </p:pic>
      <p:sp>
        <p:nvSpPr>
          <p:cNvPr id="10" name="Text 7"/>
          <p:cNvSpPr txBox="1"/>
          <p:nvPr/>
        </p:nvSpPr>
        <p:spPr>
          <a:xfrm>
            <a:off x="7863840" y="2651760"/>
            <a:ext cx="3794760" cy="3474720"/>
          </a:xfrm>
          <a:prstGeom prst="rect">
            <a:avLst/>
          </a:prstGeom>
          <a:noFill/>
          <a:ln/>
        </p:spPr>
        <p:txBody>
          <a:bodyPr wrap="square" lIns="0" tIns="0" rIns="0" bIns="0" rtlCol="0" anchor="t"/>
          <a:lstStyle/>
          <a:p>
            <a:pPr indent="0" marL="0">
              <a:buNone/>
            </a:pPr>
            <a:r>
              <a:rPr lang="en-US" sz="1600" b="1" dirty="0">
                <a:solidFill>
                  <a:schemeClr val="tx1"/>
                </a:solidFill>
              </a:rPr>
              <a:t>Why the commit SHA?</a:t>
            </a:r>
            <a:endParaRPr lang="en-US" sz="1600" dirty="0"/>
          </a:p>
          <a:p>
            <a:pPr indent="0" marL="0">
              <a:buNone/>
            </a:pPr>
            <a:r>
              <a:rPr lang="en-US" sz="1400" dirty="0">
                <a:solidFill>
                  <a:schemeClr val="accent4"/>
                </a:solidFill>
              </a:rPr>
              <a:t>Every running pod traces back to the exact commit that built it, and a rollback is just redeploying an older tag.</a:t>
            </a:r>
            <a:endParaRPr lang="en-US" sz="1600" dirty="0"/>
          </a:p>
          <a:p>
            <a:pPr indent="0" marL="0">
              <a:buNone/>
            </a:pPr>
            <a:r>
              <a:rPr lang="en-US" sz="800" dirty="0">
                <a:solidFill>
                  <a:srgbClr val="000000"/>
                </a:solidFill>
              </a:rPr>
              <a:t> </a:t>
            </a:r>
            <a:endParaRPr lang="en-US" sz="1600" dirty="0"/>
          </a:p>
          <a:p>
            <a:pPr indent="0" marL="0">
              <a:buNone/>
            </a:pPr>
            <a:r>
              <a:rPr lang="en-US" sz="1600" b="1" dirty="0">
                <a:solidFill>
                  <a:schemeClr val="tx1"/>
                </a:solidFill>
              </a:rPr>
              <a:t>Fails fast</a:t>
            </a:r>
            <a:endParaRPr lang="en-US" sz="1600" dirty="0"/>
          </a:p>
          <a:p>
            <a:pPr indent="0" marL="0">
              <a:buNone/>
            </a:pPr>
            <a:r>
              <a:rPr lang="en-US" sz="1400" dirty="0">
                <a:solidFill>
                  <a:schemeClr val="accent4"/>
                </a:solidFill>
              </a:rPr>
              <a:t>A failing test or a HIGH/CRITICAL CVE stops the pipeline before anything reaches the registry or the cluster.</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3400" b="1" dirty="0">
                <a:solidFill>
                  <a:schemeClr val="tx1"/>
                </a:solidFill>
              </a:rPr>
              <a:t>Security gate: Trivy</a:t>
            </a:r>
            <a:endParaRPr lang="en-US" sz="3400" dirty="0"/>
          </a:p>
        </p:txBody>
      </p:sp>
      <p:sp>
        <p:nvSpPr>
          <p:cNvPr id="3" name="Module chip"/>
          <p:cNvSpPr txBox="1"/>
          <p:nvPr/>
        </p:nvSpPr>
        <p:spPr>
          <a:xfrm>
            <a:off x="9555480" y="502920"/>
            <a:ext cx="2103120" cy="411480"/>
          </a:xfrm>
          <a:prstGeom prst="roundRect">
            <a:avLst>
              <a:gd name="adj" fmla="val 40000"/>
            </a:avLst>
          </a:prstGeom>
          <a:solidFill>
            <a:schemeClr val="bg2"/>
          </a:solidFill>
          <a:ln/>
        </p:spPr>
        <p:txBody>
          <a:bodyPr wrap="square" lIns="0" tIns="0" rIns="0" bIns="0" rtlCol="0" anchor="ctr"/>
          <a:lstStyle/>
          <a:p>
            <a:pPr algn="ctr" indent="0" marL="0">
              <a:buNone/>
            </a:pPr>
            <a:r>
              <a:rPr lang="en-US" sz="1200" b="1" dirty="0">
                <a:solidFill>
                  <a:schemeClr val="accent1"/>
                </a:solidFill>
              </a:rPr>
              <a:t>M6 · DevSecOps</a:t>
            </a:r>
            <a:endParaRPr lang="en-US" sz="1200" dirty="0"/>
          </a:p>
        </p:txBody>
      </p:sp>
      <p:sp>
        <p:nvSpPr>
          <p:cNvPr id="4" name="Before"/>
          <p:cNvSpPr txBox="1"/>
          <p:nvPr/>
        </p:nvSpPr>
        <p:spPr>
          <a:xfrm>
            <a:off x="548640" y="1417320"/>
            <a:ext cx="5120640" cy="1234440"/>
          </a:xfrm>
          <a:prstGeom prst="roundRect">
            <a:avLst>
              <a:gd name="adj" fmla="val 7407"/>
            </a:avLst>
          </a:prstGeom>
          <a:solidFill>
            <a:srgbClr val="FCEDED"/>
          </a:solidFill>
          <a:ln/>
        </p:spPr>
        <p:txBody>
          <a:bodyPr wrap="square" lIns="152400" tIns="152400" rIns="152400" bIns="152400" rtlCol="0" anchor="t"/>
          <a:lstStyle/>
          <a:p>
            <a:pPr indent="0" marL="0">
              <a:buNone/>
            </a:pPr>
            <a:r>
              <a:rPr lang="en-US" sz="1500" b="1" dirty="0">
                <a:solidFill>
                  <a:schemeClr val="accent6"/>
                </a:solidFill>
              </a:rPr>
              <a:t>Before</a:t>
            </a:r>
            <a:endParaRPr lang="en-US" sz="1500" dirty="0"/>
          </a:p>
          <a:p>
            <a:pPr indent="0" marL="0">
              <a:buNone/>
            </a:pPr>
            <a:r>
              <a:rPr lang="en-US" sz="1300" dirty="0">
                <a:solidFill>
                  <a:schemeClr val="tx1"/>
                </a:solidFill>
              </a:rPr>
              <a:t>starlette 0.41.3: CVE-2025-62727 (Range-header DoS)</a:t>
            </a:r>
            <a:endParaRPr lang="en-US" sz="1500" dirty="0"/>
          </a:p>
          <a:p>
            <a:pPr indent="0" marL="0">
              <a:buNone/>
            </a:pPr>
            <a:r>
              <a:rPr lang="en-US" sz="1300" dirty="0">
                <a:solidFill>
                  <a:schemeClr val="tx1"/>
                </a:solidFill>
              </a:rPr>
              <a:t>nginx 1.27 base: fixable CVEs in libxml2, musl, zlib</a:t>
            </a:r>
            <a:endParaRPr lang="en-US" sz="1500" dirty="0"/>
          </a:p>
        </p:txBody>
      </p:sp>
      <p:sp>
        <p:nvSpPr>
          <p:cNvPr id="5" name="After"/>
          <p:cNvSpPr txBox="1"/>
          <p:nvPr/>
        </p:nvSpPr>
        <p:spPr>
          <a:xfrm>
            <a:off x="548640" y="2834640"/>
            <a:ext cx="5120640" cy="1051560"/>
          </a:xfrm>
          <a:prstGeom prst="roundRect">
            <a:avLst>
              <a:gd name="adj" fmla="val 8696"/>
            </a:avLst>
          </a:prstGeom>
          <a:solidFill>
            <a:srgbClr val="E7F6EC"/>
          </a:solidFill>
          <a:ln/>
        </p:spPr>
        <p:txBody>
          <a:bodyPr wrap="square" lIns="152400" tIns="152400" rIns="152400" bIns="152400" rtlCol="0" anchor="t"/>
          <a:lstStyle/>
          <a:p>
            <a:pPr indent="0" marL="0">
              <a:buNone/>
            </a:pPr>
            <a:r>
              <a:rPr lang="en-US" sz="1500" b="1" dirty="0">
                <a:solidFill>
                  <a:schemeClr val="accent5"/>
                </a:solidFill>
              </a:rPr>
              <a:t>After</a:t>
            </a:r>
            <a:endParaRPr lang="en-US" sz="1500" dirty="0"/>
          </a:p>
          <a:p>
            <a:pPr indent="0" marL="0">
              <a:buNone/>
            </a:pPr>
            <a:r>
              <a:rPr lang="en-US" sz="1300" dirty="0">
                <a:solidFill>
                  <a:schemeClr val="tx1"/>
                </a:solidFill>
              </a:rPr>
              <a:t>Upgraded FastAPI / Starlette 1.8</a:t>
            </a:r>
            <a:endParaRPr lang="en-US" sz="1500" dirty="0"/>
          </a:p>
          <a:p>
            <a:pPr indent="0" marL="0">
              <a:buNone/>
            </a:pPr>
            <a:r>
              <a:rPr lang="en-US" sz="1300" dirty="0">
                <a:solidFill>
                  <a:schemeClr val="tx1"/>
                </a:solidFill>
              </a:rPr>
              <a:t>nginx-unprivileged 1.30 + apk upgrade</a:t>
            </a:r>
            <a:endParaRPr lang="en-US" sz="1500" dirty="0"/>
          </a:p>
        </p:txBody>
      </p:sp>
      <p:sp>
        <p:nvSpPr>
          <p:cNvPr id="6" name="Stat 0"/>
          <p:cNvSpPr txBox="1"/>
          <p:nvPr/>
        </p:nvSpPr>
        <p:spPr>
          <a:xfrm>
            <a:off x="548640" y="4160520"/>
            <a:ext cx="2377440" cy="1143000"/>
          </a:xfrm>
          <a:prstGeom prst="rect">
            <a:avLst/>
          </a:prstGeom>
          <a:noFill/>
          <a:ln/>
        </p:spPr>
        <p:txBody>
          <a:bodyPr wrap="square" lIns="0" tIns="0" rIns="0" bIns="0" rtlCol="0" anchor="t"/>
          <a:lstStyle/>
          <a:p>
            <a:pPr indent="0" marL="0">
              <a:buNone/>
            </a:pPr>
            <a:r>
              <a:rPr lang="en-US" sz="3600" b="1" dirty="0">
                <a:solidFill>
                  <a:schemeClr val="accent5"/>
                </a:solidFill>
                <a:latin typeface="Cambria" pitchFamily="34" charset="0"/>
                <a:ea typeface="Cambria" pitchFamily="34" charset="-122"/>
                <a:cs typeface="Cambria" pitchFamily="34" charset="-120"/>
              </a:rPr>
              <a:t>0</a:t>
            </a:r>
            <a:endParaRPr lang="en-US" sz="3600" dirty="0"/>
          </a:p>
          <a:p>
            <a:pPr indent="0" marL="0">
              <a:buNone/>
            </a:pPr>
            <a:r>
              <a:rPr lang="en-US" sz="1300" dirty="0">
                <a:solidFill>
                  <a:schemeClr val="accent4"/>
                </a:solidFill>
              </a:rPr>
              <a:t>HIGH / CRITICAL CVEs in both images</a:t>
            </a:r>
            <a:endParaRPr lang="en-US" sz="3600" dirty="0"/>
          </a:p>
        </p:txBody>
      </p:sp>
      <p:sp>
        <p:nvSpPr>
          <p:cNvPr id="7" name="Text 5"/>
          <p:cNvSpPr txBox="1"/>
          <p:nvPr/>
        </p:nvSpPr>
        <p:spPr>
          <a:xfrm>
            <a:off x="3108960" y="4206240"/>
            <a:ext cx="2560320" cy="1645920"/>
          </a:xfrm>
          <a:prstGeom prst="rect">
            <a:avLst/>
          </a:prstGeom>
          <a:noFill/>
          <a:ln/>
        </p:spPr>
        <p:txBody>
          <a:bodyPr wrap="square" lIns="0" tIns="0" rIns="0" bIns="0" rtlCol="0" anchor="t"/>
          <a:lstStyle/>
          <a:p>
            <a:pPr indent="0" marL="0">
              <a:buNone/>
            </a:pPr>
            <a:r>
              <a:rPr lang="en-US" sz="1400" b="1" dirty="0">
                <a:solidFill>
                  <a:schemeClr val="tx1"/>
                </a:solidFill>
              </a:rPr>
              <a:t>Supply chain</a:t>
            </a:r>
            <a:endParaRPr lang="en-US" sz="1400" dirty="0"/>
          </a:p>
          <a:p>
            <a:pPr indent="0" marL="0">
              <a:buNone/>
            </a:pPr>
            <a:r>
              <a:rPr lang="en-US" sz="1200" dirty="0">
                <a:solidFill>
                  <a:schemeClr val="accent4"/>
                </a:solidFill>
              </a:rPr>
              <a:t>Every action pinned to a commit SHA: trivy-action tags were hijacked in March 2026 (CVE-2026-33634).</a:t>
            </a:r>
            <a:endParaRPr lang="en-US" sz="1400" dirty="0"/>
          </a:p>
        </p:txBody>
      </p:sp>
      <p:sp>
        <p:nvSpPr>
          <p:cNvPr id="8" name="Trivy scan steps frame"/>
          <p:cNvSpPr/>
          <p:nvPr/>
        </p:nvSpPr>
        <p:spPr>
          <a:xfrm>
            <a:off x="5989320" y="2409637"/>
            <a:ext cx="5715000" cy="2678806"/>
          </a:xfrm>
          <a:prstGeom prst="rect">
            <a:avLst/>
          </a:prstGeom>
          <a:solidFill>
            <a:schemeClr val="bg1"/>
          </a:solidFill>
          <a:ln w="9525">
            <a:solidFill>
              <a:srgbClr val="C9D6D2"/>
            </a:solidFill>
            <a:prstDash val="solid"/>
          </a:ln>
          <a:effectLst>
            <a:outerShdw sx="100000" sy="100000" kx="0" ky="0" algn="bl" rotWithShape="0" blurRad="101600" dist="25400" dir="5400000">
              <a:srgbClr val="000000">
                <a:alpha val="16000"/>
              </a:srgbClr>
            </a:outerShdw>
          </a:effectLst>
        </p:spPr>
      </p:sp>
      <p:pic>
        <p:nvPicPr>
          <p:cNvPr id="9" name="Trivy scan steps" descr="Trivy scan steps">    </p:cNvPr>
          <p:cNvPicPr>
            <a:picLocks noChangeAspect="1"/>
          </p:cNvPicPr>
          <p:nvPr/>
        </p:nvPicPr>
        <p:blipFill>
          <a:blip r:embed="rId1"/>
          <a:stretch>
            <a:fillRect/>
          </a:stretch>
        </p:blipFill>
        <p:spPr>
          <a:xfrm>
            <a:off x="6035040" y="2455357"/>
            <a:ext cx="5623560" cy="2587366"/>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3400" b="1" dirty="0">
                <a:solidFill>
                  <a:schemeClr val="tx1"/>
                </a:solidFill>
              </a:rPr>
              <a:t>Infrastructure as Code on AWS</a:t>
            </a:r>
            <a:endParaRPr lang="en-US" sz="3400" dirty="0"/>
          </a:p>
        </p:txBody>
      </p:sp>
      <p:sp>
        <p:nvSpPr>
          <p:cNvPr id="3" name="Module chip"/>
          <p:cNvSpPr txBox="1"/>
          <p:nvPr/>
        </p:nvSpPr>
        <p:spPr>
          <a:xfrm>
            <a:off x="9555480" y="502920"/>
            <a:ext cx="2103120" cy="411480"/>
          </a:xfrm>
          <a:prstGeom prst="roundRect">
            <a:avLst>
              <a:gd name="adj" fmla="val 40000"/>
            </a:avLst>
          </a:prstGeom>
          <a:solidFill>
            <a:schemeClr val="bg2"/>
          </a:solidFill>
          <a:ln/>
        </p:spPr>
        <p:txBody>
          <a:bodyPr wrap="square" lIns="0" tIns="0" rIns="0" bIns="0" rtlCol="0" anchor="ctr"/>
          <a:lstStyle/>
          <a:p>
            <a:pPr algn="ctr" indent="0" marL="0">
              <a:buNone/>
            </a:pPr>
            <a:r>
              <a:rPr lang="en-US" sz="1200" b="1" dirty="0">
                <a:solidFill>
                  <a:schemeClr val="accent1"/>
                </a:solidFill>
              </a:rPr>
              <a:t>M7 · Terraform</a:t>
            </a:r>
            <a:endParaRPr lang="en-US" sz="1200" dirty="0"/>
          </a:p>
        </p:txBody>
      </p:sp>
      <p:sp>
        <p:nvSpPr>
          <p:cNvPr id="4" name="Stat 66"/>
          <p:cNvSpPr txBox="1"/>
          <p:nvPr/>
        </p:nvSpPr>
        <p:spPr>
          <a:xfrm>
            <a:off x="548640" y="1371600"/>
            <a:ext cx="2651760" cy="11430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66</a:t>
            </a:r>
            <a:endParaRPr lang="en-US" sz="3600" dirty="0"/>
          </a:p>
          <a:p>
            <a:pPr indent="0" marL="0">
              <a:buNone/>
            </a:pPr>
            <a:r>
              <a:rPr lang="en-US" sz="1300" dirty="0">
                <a:solidFill>
                  <a:schemeClr val="accent4"/>
                </a:solidFill>
              </a:rPr>
              <a:t>resources from terraform apply</a:t>
            </a:r>
            <a:endParaRPr lang="en-US" sz="3600" dirty="0"/>
          </a:p>
        </p:txBody>
      </p:sp>
      <p:sp>
        <p:nvSpPr>
          <p:cNvPr id="5" name="Stat 4 subnets"/>
          <p:cNvSpPr txBox="1"/>
          <p:nvPr/>
        </p:nvSpPr>
        <p:spPr>
          <a:xfrm>
            <a:off x="3337560" y="1371600"/>
            <a:ext cx="2651760" cy="11430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4 subnets</a:t>
            </a:r>
            <a:endParaRPr lang="en-US" sz="3600" dirty="0"/>
          </a:p>
          <a:p>
            <a:pPr indent="0" marL="0">
              <a:buNone/>
            </a:pPr>
            <a:r>
              <a:rPr lang="en-US" sz="1300" dirty="0">
                <a:solidFill>
                  <a:schemeClr val="accent4"/>
                </a:solidFill>
              </a:rPr>
              <a:t>2 public + 2 private across 2 AZs</a:t>
            </a:r>
            <a:endParaRPr lang="en-US" sz="3600" dirty="0"/>
          </a:p>
        </p:txBody>
      </p:sp>
      <p:sp>
        <p:nvSpPr>
          <p:cNvPr id="6" name="Stat 2 nodes"/>
          <p:cNvSpPr txBox="1"/>
          <p:nvPr/>
        </p:nvSpPr>
        <p:spPr>
          <a:xfrm>
            <a:off x="6126480" y="1371600"/>
            <a:ext cx="2743200" cy="11430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2 nodes</a:t>
            </a:r>
            <a:endParaRPr lang="en-US" sz="3600" dirty="0"/>
          </a:p>
          <a:p>
            <a:pPr indent="0" marL="0">
              <a:buNone/>
            </a:pPr>
            <a:r>
              <a:rPr lang="en-US" sz="1300" dirty="0">
                <a:solidFill>
                  <a:schemeClr val="accent4"/>
                </a:solidFill>
              </a:rPr>
              <a:t>m7i-flex.large, EKS 1.34</a:t>
            </a:r>
            <a:endParaRPr lang="en-US" sz="3600" dirty="0"/>
          </a:p>
        </p:txBody>
      </p:sp>
      <p:sp>
        <p:nvSpPr>
          <p:cNvPr id="7" name="Stat 66"/>
          <p:cNvSpPr txBox="1"/>
          <p:nvPr/>
        </p:nvSpPr>
        <p:spPr>
          <a:xfrm>
            <a:off x="9006840" y="1371600"/>
            <a:ext cx="2651760" cy="1143000"/>
          </a:xfrm>
          <a:prstGeom prst="rect">
            <a:avLst/>
          </a:prstGeom>
          <a:noFill/>
          <a:ln/>
        </p:spPr>
        <p:txBody>
          <a:bodyPr wrap="square" lIns="0" tIns="0" rIns="0" bIns="0" rtlCol="0" anchor="t"/>
          <a:lstStyle/>
          <a:p>
            <a:pPr indent="0" marL="0">
              <a:buNone/>
            </a:pPr>
            <a:r>
              <a:rPr lang="en-US" sz="3600" b="1" dirty="0">
                <a:solidFill>
                  <a:schemeClr val="accent5"/>
                </a:solidFill>
                <a:latin typeface="Cambria" pitchFamily="34" charset="0"/>
                <a:ea typeface="Cambria" pitchFamily="34" charset="-122"/>
                <a:cs typeface="Cambria" pitchFamily="34" charset="-120"/>
              </a:rPr>
              <a:t>66</a:t>
            </a:r>
            <a:endParaRPr lang="en-US" sz="3600" dirty="0"/>
          </a:p>
          <a:p>
            <a:pPr indent="0" marL="0">
              <a:buNone/>
            </a:pPr>
            <a:r>
              <a:rPr lang="en-US" sz="1300" dirty="0">
                <a:solidFill>
                  <a:schemeClr val="accent4"/>
                </a:solidFill>
              </a:rPr>
              <a:t>destroyed afterwards: no runaway cost</a:t>
            </a:r>
            <a:endParaRPr lang="en-US" sz="3600" dirty="0"/>
          </a:p>
        </p:txBody>
      </p:sp>
      <p:sp>
        <p:nvSpPr>
          <p:cNvPr id="8" name="VPC subnets frame"/>
          <p:cNvSpPr/>
          <p:nvPr/>
        </p:nvSpPr>
        <p:spPr>
          <a:xfrm>
            <a:off x="502920" y="2697480"/>
            <a:ext cx="5532120" cy="2834568"/>
          </a:xfrm>
          <a:prstGeom prst="rect">
            <a:avLst/>
          </a:prstGeom>
          <a:solidFill>
            <a:schemeClr val="bg1"/>
          </a:solidFill>
          <a:ln w="9525">
            <a:solidFill>
              <a:srgbClr val="C9D6D2"/>
            </a:solidFill>
            <a:prstDash val="solid"/>
          </a:ln>
          <a:effectLst>
            <a:outerShdw sx="100000" sy="100000" kx="0" ky="0" algn="bl" rotWithShape="0" blurRad="101600" dist="25400" dir="5400000">
              <a:srgbClr val="000000">
                <a:alpha val="16000"/>
              </a:srgbClr>
            </a:outerShdw>
          </a:effectLst>
        </p:spPr>
      </p:sp>
      <p:pic>
        <p:nvPicPr>
          <p:cNvPr id="9" name="VPC subnets" descr="VPC subnets">    </p:cNvPr>
          <p:cNvPicPr>
            <a:picLocks noChangeAspect="1"/>
          </p:cNvPicPr>
          <p:nvPr/>
        </p:nvPicPr>
        <p:blipFill>
          <a:blip r:embed="rId1"/>
          <a:stretch>
            <a:fillRect/>
          </a:stretch>
        </p:blipFill>
        <p:spPr>
          <a:xfrm>
            <a:off x="548640" y="2743200"/>
            <a:ext cx="5440680" cy="2743128"/>
          </a:xfrm>
          <a:prstGeom prst="rect">
            <a:avLst/>
          </a:prstGeom>
        </p:spPr>
      </p:pic>
      <p:sp>
        <p:nvSpPr>
          <p:cNvPr id="10" name="EKS node group frame"/>
          <p:cNvSpPr/>
          <p:nvPr/>
        </p:nvSpPr>
        <p:spPr>
          <a:xfrm>
            <a:off x="6172200" y="2697480"/>
            <a:ext cx="5532120" cy="2821724"/>
          </a:xfrm>
          <a:prstGeom prst="rect">
            <a:avLst/>
          </a:prstGeom>
          <a:solidFill>
            <a:schemeClr val="bg1"/>
          </a:solidFill>
          <a:ln w="9525">
            <a:solidFill>
              <a:srgbClr val="C9D6D2"/>
            </a:solidFill>
            <a:prstDash val="solid"/>
          </a:ln>
          <a:effectLst>
            <a:outerShdw sx="100000" sy="100000" kx="0" ky="0" algn="bl" rotWithShape="0" blurRad="101600" dist="25400" dir="5400000">
              <a:srgbClr val="000000">
                <a:alpha val="16000"/>
              </a:srgbClr>
            </a:outerShdw>
          </a:effectLst>
        </p:spPr>
      </p:sp>
      <p:pic>
        <p:nvPicPr>
          <p:cNvPr id="11" name="EKS node group" descr="EKS node group">    </p:cNvPr>
          <p:cNvPicPr>
            <a:picLocks noChangeAspect="1"/>
          </p:cNvPicPr>
          <p:nvPr/>
        </p:nvPicPr>
        <p:blipFill>
          <a:blip r:embed="rId2"/>
          <a:stretch>
            <a:fillRect/>
          </a:stretch>
        </p:blipFill>
        <p:spPr>
          <a:xfrm>
            <a:off x="6217920" y="2743200"/>
            <a:ext cx="5440680" cy="2730284"/>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3400" b="1" dirty="0">
                <a:solidFill>
                  <a:schemeClr val="tx1"/>
                </a:solidFill>
              </a:rPr>
              <a:t>Kubernetes + Helm</a:t>
            </a:r>
            <a:endParaRPr lang="en-US" sz="3400" dirty="0"/>
          </a:p>
        </p:txBody>
      </p:sp>
      <p:sp>
        <p:nvSpPr>
          <p:cNvPr id="3" name="Module chip"/>
          <p:cNvSpPr txBox="1"/>
          <p:nvPr/>
        </p:nvSpPr>
        <p:spPr>
          <a:xfrm>
            <a:off x="9555480" y="502920"/>
            <a:ext cx="2103120" cy="411480"/>
          </a:xfrm>
          <a:prstGeom prst="roundRect">
            <a:avLst>
              <a:gd name="adj" fmla="val 40000"/>
            </a:avLst>
          </a:prstGeom>
          <a:solidFill>
            <a:schemeClr val="bg2"/>
          </a:solidFill>
          <a:ln/>
        </p:spPr>
        <p:txBody>
          <a:bodyPr wrap="square" lIns="0" tIns="0" rIns="0" bIns="0" rtlCol="0" anchor="ctr"/>
          <a:lstStyle/>
          <a:p>
            <a:pPr algn="ctr" indent="0" marL="0">
              <a:buNone/>
            </a:pPr>
            <a:r>
              <a:rPr lang="en-US" sz="1200" b="1" dirty="0">
                <a:solidFill>
                  <a:schemeClr val="accent1"/>
                </a:solidFill>
              </a:rPr>
              <a:t>M8 · K8s + Helm</a:t>
            </a:r>
            <a:endParaRPr lang="en-US" sz="1200" dirty="0"/>
          </a:p>
        </p:txBody>
      </p:sp>
      <p:sp>
        <p:nvSpPr>
          <p:cNvPr id="4" name="Deployments"/>
          <p:cNvSpPr txBox="1"/>
          <p:nvPr/>
        </p:nvSpPr>
        <p:spPr>
          <a:xfrm>
            <a:off x="548640" y="1417320"/>
            <a:ext cx="2331720" cy="914400"/>
          </a:xfrm>
          <a:prstGeom prst="roundRect">
            <a:avLst>
              <a:gd name="adj" fmla="val 10000"/>
            </a:avLst>
          </a:prstGeom>
          <a:solidFill>
            <a:schemeClr val="bg2"/>
          </a:solidFill>
          <a:ln/>
        </p:spPr>
        <p:txBody>
          <a:bodyPr wrap="square" lIns="127000" tIns="127000" rIns="127000" bIns="127000" rtlCol="0" anchor="ctr"/>
          <a:lstStyle/>
          <a:p>
            <a:pPr indent="0" marL="0">
              <a:buNone/>
            </a:pPr>
            <a:r>
              <a:rPr lang="en-US" sz="1400" b="1" dirty="0">
                <a:solidFill>
                  <a:schemeClr val="accent1"/>
                </a:solidFill>
              </a:rPr>
              <a:t>Deployments</a:t>
            </a:r>
            <a:endParaRPr lang="en-US" sz="1400" dirty="0"/>
          </a:p>
          <a:p>
            <a:pPr indent="0" marL="0">
              <a:buNone/>
            </a:pPr>
            <a:r>
              <a:rPr lang="en-US" sz="1200" dirty="0">
                <a:solidFill>
                  <a:schemeClr val="tx1"/>
                </a:solidFill>
              </a:rPr>
              <a:t>backend + frontend, 2 replicas</a:t>
            </a:r>
            <a:endParaRPr lang="en-US" sz="1400" dirty="0"/>
          </a:p>
        </p:txBody>
      </p:sp>
      <p:sp>
        <p:nvSpPr>
          <p:cNvPr id="5" name="StatefulSet"/>
          <p:cNvSpPr txBox="1"/>
          <p:nvPr/>
        </p:nvSpPr>
        <p:spPr>
          <a:xfrm>
            <a:off x="3063240" y="1417320"/>
            <a:ext cx="2331720" cy="914400"/>
          </a:xfrm>
          <a:prstGeom prst="roundRect">
            <a:avLst>
              <a:gd name="adj" fmla="val 10000"/>
            </a:avLst>
          </a:prstGeom>
          <a:solidFill>
            <a:schemeClr val="bg2"/>
          </a:solidFill>
          <a:ln/>
        </p:spPr>
        <p:txBody>
          <a:bodyPr wrap="square" lIns="127000" tIns="127000" rIns="127000" bIns="127000" rtlCol="0" anchor="ctr"/>
          <a:lstStyle/>
          <a:p>
            <a:pPr indent="0" marL="0">
              <a:buNone/>
            </a:pPr>
            <a:r>
              <a:rPr lang="en-US" sz="1400" b="1" dirty="0">
                <a:solidFill>
                  <a:schemeClr val="accent1"/>
                </a:solidFill>
              </a:rPr>
              <a:t>StatefulSet</a:t>
            </a:r>
            <a:endParaRPr lang="en-US" sz="1400" dirty="0"/>
          </a:p>
          <a:p>
            <a:pPr indent="0" marL="0">
              <a:buNone/>
            </a:pPr>
            <a:r>
              <a:rPr lang="en-US" sz="1200" dirty="0">
                <a:solidFill>
                  <a:schemeClr val="tx1"/>
                </a:solidFill>
              </a:rPr>
              <a:t>Postgres on EBS gp3</a:t>
            </a:r>
            <a:endParaRPr lang="en-US" sz="1400" dirty="0"/>
          </a:p>
        </p:txBody>
      </p:sp>
      <p:sp>
        <p:nvSpPr>
          <p:cNvPr id="6" name="Services"/>
          <p:cNvSpPr txBox="1"/>
          <p:nvPr/>
        </p:nvSpPr>
        <p:spPr>
          <a:xfrm>
            <a:off x="548640" y="2514600"/>
            <a:ext cx="2331720" cy="914400"/>
          </a:xfrm>
          <a:prstGeom prst="roundRect">
            <a:avLst>
              <a:gd name="adj" fmla="val 10000"/>
            </a:avLst>
          </a:prstGeom>
          <a:solidFill>
            <a:schemeClr val="bg2"/>
          </a:solidFill>
          <a:ln/>
        </p:spPr>
        <p:txBody>
          <a:bodyPr wrap="square" lIns="127000" tIns="127000" rIns="127000" bIns="127000" rtlCol="0" anchor="ctr"/>
          <a:lstStyle/>
          <a:p>
            <a:pPr indent="0" marL="0">
              <a:buNone/>
            </a:pPr>
            <a:r>
              <a:rPr lang="en-US" sz="1400" b="1" dirty="0">
                <a:solidFill>
                  <a:schemeClr val="accent1"/>
                </a:solidFill>
              </a:rPr>
              <a:t>Services</a:t>
            </a:r>
            <a:endParaRPr lang="en-US" sz="1400" dirty="0"/>
          </a:p>
          <a:p>
            <a:pPr indent="0" marL="0">
              <a:buNone/>
            </a:pPr>
            <a:r>
              <a:rPr lang="en-US" sz="1200" dirty="0">
                <a:solidFill>
                  <a:schemeClr val="tx1"/>
                </a:solidFill>
              </a:rPr>
              <a:t>ClusterIP for all three</a:t>
            </a:r>
            <a:endParaRPr lang="en-US" sz="1400" dirty="0"/>
          </a:p>
        </p:txBody>
      </p:sp>
      <p:sp>
        <p:nvSpPr>
          <p:cNvPr id="7" name="Ingress"/>
          <p:cNvSpPr txBox="1"/>
          <p:nvPr/>
        </p:nvSpPr>
        <p:spPr>
          <a:xfrm>
            <a:off x="3063240" y="2514600"/>
            <a:ext cx="2331720" cy="914400"/>
          </a:xfrm>
          <a:prstGeom prst="roundRect">
            <a:avLst>
              <a:gd name="adj" fmla="val 10000"/>
            </a:avLst>
          </a:prstGeom>
          <a:solidFill>
            <a:schemeClr val="bg2"/>
          </a:solidFill>
          <a:ln/>
        </p:spPr>
        <p:txBody>
          <a:bodyPr wrap="square" lIns="127000" tIns="127000" rIns="127000" bIns="127000" rtlCol="0" anchor="ctr"/>
          <a:lstStyle/>
          <a:p>
            <a:pPr indent="0" marL="0">
              <a:buNone/>
            </a:pPr>
            <a:r>
              <a:rPr lang="en-US" sz="1400" b="1" dirty="0">
                <a:solidFill>
                  <a:schemeClr val="accent1"/>
                </a:solidFill>
              </a:rPr>
              <a:t>Ingress</a:t>
            </a:r>
            <a:endParaRPr lang="en-US" sz="1400" dirty="0"/>
          </a:p>
          <a:p>
            <a:pPr indent="0" marL="0">
              <a:buNone/>
            </a:pPr>
            <a:r>
              <a:rPr lang="en-US" sz="1200" dirty="0">
                <a:solidFill>
                  <a:schemeClr val="tx1"/>
                </a:solidFill>
              </a:rPr>
              <a:t>/ → frontend, /api → backend</a:t>
            </a:r>
            <a:endParaRPr lang="en-US" sz="1400" dirty="0"/>
          </a:p>
        </p:txBody>
      </p:sp>
      <p:sp>
        <p:nvSpPr>
          <p:cNvPr id="8" name="HPA"/>
          <p:cNvSpPr txBox="1"/>
          <p:nvPr/>
        </p:nvSpPr>
        <p:spPr>
          <a:xfrm>
            <a:off x="548640" y="3611880"/>
            <a:ext cx="2331720" cy="914400"/>
          </a:xfrm>
          <a:prstGeom prst="roundRect">
            <a:avLst>
              <a:gd name="adj" fmla="val 10000"/>
            </a:avLst>
          </a:prstGeom>
          <a:solidFill>
            <a:schemeClr val="bg2"/>
          </a:solidFill>
          <a:ln/>
        </p:spPr>
        <p:txBody>
          <a:bodyPr wrap="square" lIns="127000" tIns="127000" rIns="127000" bIns="127000" rtlCol="0" anchor="ctr"/>
          <a:lstStyle/>
          <a:p>
            <a:pPr indent="0" marL="0">
              <a:buNone/>
            </a:pPr>
            <a:r>
              <a:rPr lang="en-US" sz="1400" b="1" dirty="0">
                <a:solidFill>
                  <a:schemeClr val="accent1"/>
                </a:solidFill>
              </a:rPr>
              <a:t>HPA</a:t>
            </a:r>
            <a:endParaRPr lang="en-US" sz="1400" dirty="0"/>
          </a:p>
          <a:p>
            <a:pPr indent="0" marL="0">
              <a:buNone/>
            </a:pPr>
            <a:r>
              <a:rPr lang="en-US" sz="1200" dirty="0">
                <a:solidFill>
                  <a:schemeClr val="tx1"/>
                </a:solidFill>
              </a:rPr>
              <a:t>backend 2→8 at 60% CPU</a:t>
            </a:r>
            <a:endParaRPr lang="en-US" sz="1400" dirty="0"/>
          </a:p>
        </p:txBody>
      </p:sp>
      <p:sp>
        <p:nvSpPr>
          <p:cNvPr id="9" name="ServiceMonitor"/>
          <p:cNvSpPr txBox="1"/>
          <p:nvPr/>
        </p:nvSpPr>
        <p:spPr>
          <a:xfrm>
            <a:off x="3063240" y="3611880"/>
            <a:ext cx="2331720" cy="914400"/>
          </a:xfrm>
          <a:prstGeom prst="roundRect">
            <a:avLst>
              <a:gd name="adj" fmla="val 10000"/>
            </a:avLst>
          </a:prstGeom>
          <a:solidFill>
            <a:schemeClr val="bg2"/>
          </a:solidFill>
          <a:ln/>
        </p:spPr>
        <p:txBody>
          <a:bodyPr wrap="square" lIns="127000" tIns="127000" rIns="127000" bIns="127000" rtlCol="0" anchor="ctr"/>
          <a:lstStyle/>
          <a:p>
            <a:pPr indent="0" marL="0">
              <a:buNone/>
            </a:pPr>
            <a:r>
              <a:rPr lang="en-US" sz="1400" b="1" dirty="0">
                <a:solidFill>
                  <a:schemeClr val="accent1"/>
                </a:solidFill>
              </a:rPr>
              <a:t>ServiceMonitor</a:t>
            </a:r>
            <a:endParaRPr lang="en-US" sz="1400" dirty="0"/>
          </a:p>
          <a:p>
            <a:pPr indent="0" marL="0">
              <a:buNone/>
            </a:pPr>
            <a:r>
              <a:rPr lang="en-US" sz="1200" dirty="0">
                <a:solidFill>
                  <a:schemeClr val="tx1"/>
                </a:solidFill>
              </a:rPr>
              <a:t>+ Grafana dashboard</a:t>
            </a:r>
            <a:endParaRPr lang="en-US" sz="1400" dirty="0"/>
          </a:p>
        </p:txBody>
      </p:sp>
      <p:sp>
        <p:nvSpPr>
          <p:cNvPr id="10" name="Text 8"/>
          <p:cNvSpPr txBox="1"/>
          <p:nvPr/>
        </p:nvSpPr>
        <p:spPr>
          <a:xfrm>
            <a:off x="548640" y="4800600"/>
            <a:ext cx="4937760" cy="822960"/>
          </a:xfrm>
          <a:prstGeom prst="rect">
            <a:avLst/>
          </a:prstGeom>
          <a:noFill/>
          <a:ln/>
        </p:spPr>
        <p:txBody>
          <a:bodyPr wrap="square" lIns="0" tIns="0" rIns="0" bIns="0" rtlCol="0" anchor="ctr"/>
          <a:lstStyle/>
          <a:p>
            <a:pPr indent="0" marL="0">
              <a:buNone/>
            </a:pPr>
            <a:r>
              <a:rPr lang="en-US" sz="1300" i="1" dirty="0">
                <a:solidFill>
                  <a:schemeClr val="accent4"/>
                </a:solidFill>
              </a:rPr>
              <a:t>One chart, three values files (default, dev, prod).</a:t>
            </a:r>
            <a:endParaRPr lang="en-US" sz="1300" dirty="0"/>
          </a:p>
          <a:p>
            <a:pPr indent="0" marL="0">
              <a:buNone/>
            </a:pPr>
            <a:r>
              <a:rPr lang="en-US" sz="1300" i="1" dirty="0">
                <a:solidFill>
                  <a:schemeClr val="accent4"/>
                </a:solidFill>
              </a:rPr>
              <a:t>CI deploys every push with helm upgrade --install.</a:t>
            </a:r>
            <a:endParaRPr lang="en-US" sz="1300" dirty="0"/>
          </a:p>
        </p:txBody>
      </p:sp>
      <p:sp>
        <p:nvSpPr>
          <p:cNvPr id="11" name="kubectl get pods frame"/>
          <p:cNvSpPr/>
          <p:nvPr/>
        </p:nvSpPr>
        <p:spPr>
          <a:xfrm>
            <a:off x="5715000" y="1432843"/>
            <a:ext cx="5989320" cy="883355"/>
          </a:xfrm>
          <a:prstGeom prst="rect">
            <a:avLst/>
          </a:prstGeom>
          <a:solidFill>
            <a:schemeClr val="bg1"/>
          </a:solidFill>
          <a:ln w="9525">
            <a:solidFill>
              <a:srgbClr val="C9D6D2"/>
            </a:solidFill>
            <a:prstDash val="solid"/>
          </a:ln>
          <a:effectLst>
            <a:outerShdw sx="100000" sy="100000" kx="0" ky="0" algn="bl" rotWithShape="0" blurRad="101600" dist="25400" dir="5400000">
              <a:srgbClr val="000000">
                <a:alpha val="16000"/>
              </a:srgbClr>
            </a:outerShdw>
          </a:effectLst>
        </p:spPr>
      </p:sp>
      <p:pic>
        <p:nvPicPr>
          <p:cNvPr id="12" name="kubectl get pods" descr="kubectl get pods">    </p:cNvPr>
          <p:cNvPicPr>
            <a:picLocks noChangeAspect="1"/>
          </p:cNvPicPr>
          <p:nvPr/>
        </p:nvPicPr>
        <p:blipFill>
          <a:blip r:embed="rId1"/>
          <a:stretch>
            <a:fillRect/>
          </a:stretch>
        </p:blipFill>
        <p:spPr>
          <a:xfrm>
            <a:off x="5760720" y="1478563"/>
            <a:ext cx="5897880" cy="791915"/>
          </a:xfrm>
          <a:prstGeom prst="rect">
            <a:avLst/>
          </a:prstGeom>
        </p:spPr>
      </p:pic>
      <p:sp>
        <p:nvSpPr>
          <p:cNvPr id="13" name="Ingress and deployments frame"/>
          <p:cNvSpPr/>
          <p:nvPr/>
        </p:nvSpPr>
        <p:spPr>
          <a:xfrm>
            <a:off x="5715000" y="2645239"/>
            <a:ext cx="5989320" cy="1201762"/>
          </a:xfrm>
          <a:prstGeom prst="rect">
            <a:avLst/>
          </a:prstGeom>
          <a:solidFill>
            <a:schemeClr val="bg1"/>
          </a:solidFill>
          <a:ln w="9525">
            <a:solidFill>
              <a:srgbClr val="C9D6D2"/>
            </a:solidFill>
            <a:prstDash val="solid"/>
          </a:ln>
          <a:effectLst>
            <a:outerShdw sx="100000" sy="100000" kx="0" ky="0" algn="bl" rotWithShape="0" blurRad="101600" dist="25400" dir="5400000">
              <a:srgbClr val="000000">
                <a:alpha val="16000"/>
              </a:srgbClr>
            </a:outerShdw>
          </a:effectLst>
        </p:spPr>
      </p:sp>
      <p:pic>
        <p:nvPicPr>
          <p:cNvPr id="14" name="Ingress and deployments" descr="Ingress and deployments">    </p:cNvPr>
          <p:cNvPicPr>
            <a:picLocks noChangeAspect="1"/>
          </p:cNvPicPr>
          <p:nvPr/>
        </p:nvPicPr>
        <p:blipFill>
          <a:blip r:embed="rId2"/>
          <a:stretch>
            <a:fillRect/>
          </a:stretch>
        </p:blipFill>
        <p:spPr>
          <a:xfrm>
            <a:off x="5760720" y="2690959"/>
            <a:ext cx="5897880" cy="1110322"/>
          </a:xfrm>
          <a:prstGeom prst="rect">
            <a:avLst/>
          </a:prstGeom>
        </p:spPr>
      </p:pic>
      <p:sp>
        <p:nvSpPr>
          <p:cNvPr id="15" name="HPA frame"/>
          <p:cNvSpPr/>
          <p:nvPr/>
        </p:nvSpPr>
        <p:spPr>
          <a:xfrm>
            <a:off x="5715000" y="4156211"/>
            <a:ext cx="5989320" cy="694418"/>
          </a:xfrm>
          <a:prstGeom prst="rect">
            <a:avLst/>
          </a:prstGeom>
          <a:solidFill>
            <a:schemeClr val="bg1"/>
          </a:solidFill>
          <a:ln w="9525">
            <a:solidFill>
              <a:srgbClr val="C9D6D2"/>
            </a:solidFill>
            <a:prstDash val="solid"/>
          </a:ln>
          <a:effectLst>
            <a:outerShdw sx="100000" sy="100000" kx="0" ky="0" algn="bl" rotWithShape="0" blurRad="101600" dist="25400" dir="5400000">
              <a:srgbClr val="000000">
                <a:alpha val="16000"/>
              </a:srgbClr>
            </a:outerShdw>
          </a:effectLst>
        </p:spPr>
      </p:sp>
      <p:pic>
        <p:nvPicPr>
          <p:cNvPr id="16" name="HPA" descr="HPA">    </p:cNvPr>
          <p:cNvPicPr>
            <a:picLocks noChangeAspect="1"/>
          </p:cNvPicPr>
          <p:nvPr/>
        </p:nvPicPr>
        <p:blipFill>
          <a:blip r:embed="rId3"/>
          <a:stretch>
            <a:fillRect/>
          </a:stretch>
        </p:blipFill>
        <p:spPr>
          <a:xfrm>
            <a:off x="5760720" y="4201931"/>
            <a:ext cx="5897880" cy="602978"/>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3400" b="1" dirty="0">
                <a:solidFill>
                  <a:schemeClr val="tx1"/>
                </a:solidFill>
              </a:rPr>
              <a:t>Observability</a:t>
            </a:r>
            <a:endParaRPr lang="en-US" sz="3400" dirty="0"/>
          </a:p>
        </p:txBody>
      </p:sp>
      <p:sp>
        <p:nvSpPr>
          <p:cNvPr id="3" name="Module chip"/>
          <p:cNvSpPr txBox="1"/>
          <p:nvPr/>
        </p:nvSpPr>
        <p:spPr>
          <a:xfrm>
            <a:off x="9555480" y="502920"/>
            <a:ext cx="2103120" cy="411480"/>
          </a:xfrm>
          <a:prstGeom prst="roundRect">
            <a:avLst>
              <a:gd name="adj" fmla="val 40000"/>
            </a:avLst>
          </a:prstGeom>
          <a:solidFill>
            <a:schemeClr val="bg2"/>
          </a:solidFill>
          <a:ln/>
        </p:spPr>
        <p:txBody>
          <a:bodyPr wrap="square" lIns="0" tIns="0" rIns="0" bIns="0" rtlCol="0" anchor="ctr"/>
          <a:lstStyle/>
          <a:p>
            <a:pPr algn="ctr" indent="0" marL="0">
              <a:buNone/>
            </a:pPr>
            <a:r>
              <a:rPr lang="en-US" sz="1200" b="1" dirty="0">
                <a:solidFill>
                  <a:schemeClr val="accent1"/>
                </a:solidFill>
              </a:rPr>
              <a:t>M9 · Monitoring</a:t>
            </a:r>
            <a:endParaRPr lang="en-US" sz="1200" dirty="0"/>
          </a:p>
        </p:txBody>
      </p:sp>
      <p:sp>
        <p:nvSpPr>
          <p:cNvPr id="4" name="Grafana dashboard frame"/>
          <p:cNvSpPr/>
          <p:nvPr/>
        </p:nvSpPr>
        <p:spPr>
          <a:xfrm>
            <a:off x="502920" y="1355197"/>
            <a:ext cx="7680960" cy="4833407"/>
          </a:xfrm>
          <a:prstGeom prst="rect">
            <a:avLst/>
          </a:prstGeom>
          <a:solidFill>
            <a:schemeClr val="bg1"/>
          </a:solidFill>
          <a:ln w="9525">
            <a:solidFill>
              <a:srgbClr val="C9D6D2"/>
            </a:solidFill>
            <a:prstDash val="solid"/>
          </a:ln>
          <a:effectLst>
            <a:outerShdw sx="100000" sy="100000" kx="0" ky="0" algn="bl" rotWithShape="0" blurRad="101600" dist="25400" dir="5400000">
              <a:srgbClr val="000000">
                <a:alpha val="16000"/>
              </a:srgbClr>
            </a:outerShdw>
          </a:effectLst>
        </p:spPr>
      </p:sp>
      <p:pic>
        <p:nvPicPr>
          <p:cNvPr id="5" name="Grafana dashboard" descr="Grafana dashboard">    </p:cNvPr>
          <p:cNvPicPr>
            <a:picLocks noChangeAspect="1"/>
          </p:cNvPicPr>
          <p:nvPr/>
        </p:nvPicPr>
        <p:blipFill>
          <a:blip r:embed="rId1"/>
          <a:stretch>
            <a:fillRect/>
          </a:stretch>
        </p:blipFill>
        <p:spPr>
          <a:xfrm>
            <a:off x="548640" y="1400917"/>
            <a:ext cx="7589520" cy="4741967"/>
          </a:xfrm>
          <a:prstGeom prst="rect">
            <a:avLst/>
          </a:prstGeom>
        </p:spPr>
      </p:pic>
      <p:sp>
        <p:nvSpPr>
          <p:cNvPr id="6" name="Stat 2 / 2"/>
          <p:cNvSpPr txBox="1"/>
          <p:nvPr/>
        </p:nvSpPr>
        <p:spPr>
          <a:xfrm>
            <a:off x="8595360" y="1463040"/>
            <a:ext cx="3017520" cy="11430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2 / 2</a:t>
            </a:r>
            <a:endParaRPr lang="en-US" sz="3600" dirty="0"/>
          </a:p>
          <a:p>
            <a:pPr indent="0" marL="0">
              <a:buNone/>
            </a:pPr>
            <a:r>
              <a:rPr lang="en-US" sz="1300" dirty="0">
                <a:solidFill>
                  <a:schemeClr val="accent4"/>
                </a:solidFill>
              </a:rPr>
              <a:t>backend targets UP in Prometheus</a:t>
            </a:r>
            <a:endParaRPr lang="en-US" sz="3600" dirty="0"/>
          </a:p>
        </p:txBody>
      </p:sp>
      <p:sp>
        <p:nvSpPr>
          <p:cNvPr id="7" name="Stat 23 req/s"/>
          <p:cNvSpPr txBox="1"/>
          <p:nvPr/>
        </p:nvSpPr>
        <p:spPr>
          <a:xfrm>
            <a:off x="8595360" y="2880360"/>
            <a:ext cx="3017520" cy="11430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23 req/s</a:t>
            </a:r>
            <a:endParaRPr lang="en-US" sz="3600" dirty="0"/>
          </a:p>
          <a:p>
            <a:pPr indent="0" marL="0">
              <a:buNone/>
            </a:pPr>
            <a:r>
              <a:rPr lang="en-US" sz="1300" dirty="0">
                <a:solidFill>
                  <a:schemeClr val="accent4"/>
                </a:solidFill>
              </a:rPr>
              <a:t>during the load test</a:t>
            </a:r>
            <a:endParaRPr lang="en-US" sz="3600" dirty="0"/>
          </a:p>
        </p:txBody>
      </p:sp>
      <p:sp>
        <p:nvSpPr>
          <p:cNvPr id="8" name="Stat 9.5 ms"/>
          <p:cNvSpPr txBox="1"/>
          <p:nvPr/>
        </p:nvSpPr>
        <p:spPr>
          <a:xfrm>
            <a:off x="8595360" y="4297680"/>
            <a:ext cx="3017520" cy="11430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9.5 ms</a:t>
            </a:r>
            <a:endParaRPr lang="en-US" sz="3600" dirty="0"/>
          </a:p>
          <a:p>
            <a:pPr indent="0" marL="0">
              <a:buNone/>
            </a:pPr>
            <a:r>
              <a:rPr lang="en-US" sz="1300" dirty="0">
                <a:solidFill>
                  <a:schemeClr val="accent4"/>
                </a:solidFill>
              </a:rPr>
              <a:t>p95 latency under load</a:t>
            </a:r>
            <a:endParaRPr lang="en-US" sz="3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3400" b="1" dirty="0">
                <a:solidFill>
                  <a:schemeClr val="tx1"/>
                </a:solidFill>
              </a:rPr>
              <a:t>Quality gates before anything ships</a:t>
            </a:r>
            <a:endParaRPr lang="en-US" sz="3400" dirty="0"/>
          </a:p>
        </p:txBody>
      </p:sp>
      <p:sp>
        <p:nvSpPr>
          <p:cNvPr id="3" name="Module chip"/>
          <p:cNvSpPr txBox="1"/>
          <p:nvPr/>
        </p:nvSpPr>
        <p:spPr>
          <a:xfrm>
            <a:off x="9555480" y="502920"/>
            <a:ext cx="2103120" cy="411480"/>
          </a:xfrm>
          <a:prstGeom prst="roundRect">
            <a:avLst>
              <a:gd name="adj" fmla="val 40000"/>
            </a:avLst>
          </a:prstGeom>
          <a:solidFill>
            <a:schemeClr val="bg2"/>
          </a:solidFill>
          <a:ln/>
        </p:spPr>
        <p:txBody>
          <a:bodyPr wrap="square" lIns="0" tIns="0" rIns="0" bIns="0" rtlCol="0" anchor="ctr"/>
          <a:lstStyle/>
          <a:p>
            <a:pPr algn="ctr" indent="0" marL="0">
              <a:buNone/>
            </a:pPr>
            <a:r>
              <a:rPr lang="en-US" sz="1200" b="1" dirty="0">
                <a:solidFill>
                  <a:schemeClr val="accent1"/>
                </a:solidFill>
              </a:rPr>
              <a:t>M2 · M4</a:t>
            </a:r>
            <a:endParaRPr lang="en-US" sz="1200" dirty="0"/>
          </a:p>
        </p:txBody>
      </p:sp>
      <p:sp>
        <p:nvSpPr>
          <p:cNvPr id="4" name="Stat 19"/>
          <p:cNvSpPr txBox="1"/>
          <p:nvPr/>
        </p:nvSpPr>
        <p:spPr>
          <a:xfrm>
            <a:off x="548640" y="1417320"/>
            <a:ext cx="2743200" cy="11430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19</a:t>
            </a:r>
            <a:endParaRPr lang="en-US" sz="3600" dirty="0"/>
          </a:p>
          <a:p>
            <a:pPr indent="0" marL="0">
              <a:buNone/>
            </a:pPr>
            <a:r>
              <a:rPr lang="en-US" sz="1300" dirty="0">
                <a:solidFill>
                  <a:schemeClr val="accent4"/>
                </a:solidFill>
              </a:rPr>
              <a:t>pytest cases, isolated SQLite DB</a:t>
            </a:r>
            <a:endParaRPr lang="en-US" sz="3600" dirty="0"/>
          </a:p>
        </p:txBody>
      </p:sp>
      <p:sp>
        <p:nvSpPr>
          <p:cNvPr id="5" name="Stat Non-root"/>
          <p:cNvSpPr txBox="1"/>
          <p:nvPr/>
        </p:nvSpPr>
        <p:spPr>
          <a:xfrm>
            <a:off x="3383280" y="1417320"/>
            <a:ext cx="2743200" cy="11430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Non-root</a:t>
            </a:r>
            <a:endParaRPr lang="en-US" sz="3600" dirty="0"/>
          </a:p>
          <a:p>
            <a:pPr indent="0" marL="0">
              <a:buNone/>
            </a:pPr>
            <a:r>
              <a:rPr lang="en-US" sz="1300" dirty="0">
                <a:solidFill>
                  <a:schemeClr val="accent4"/>
                </a:solidFill>
              </a:rPr>
              <a:t>uid 10001 backend, uid 101 Nginx</a:t>
            </a:r>
            <a:endParaRPr lang="en-US" sz="3600" dirty="0"/>
          </a:p>
        </p:txBody>
      </p:sp>
      <p:sp>
        <p:nvSpPr>
          <p:cNvPr id="6" name="Text 4"/>
          <p:cNvSpPr txBox="1"/>
          <p:nvPr/>
        </p:nvSpPr>
        <p:spPr>
          <a:xfrm>
            <a:off x="548640" y="2971800"/>
            <a:ext cx="5394960" cy="2743200"/>
          </a:xfrm>
          <a:prstGeom prst="rect">
            <a:avLst/>
          </a:prstGeom>
          <a:noFill/>
          <a:ln/>
        </p:spPr>
        <p:txBody>
          <a:bodyPr wrap="square" lIns="0" tIns="0" rIns="0" bIns="0" rtlCol="0" anchor="t"/>
          <a:lstStyle/>
          <a:p>
            <a:pPr indent="0" marL="0">
              <a:buNone/>
            </a:pPr>
            <a:r>
              <a:rPr lang="en-US" sz="1500" b="1" dirty="0">
                <a:solidFill>
                  <a:schemeClr val="tx1"/>
                </a:solidFill>
              </a:rPr>
              <a:t>Multi-stage frontend image</a:t>
            </a:r>
            <a:endParaRPr lang="en-US" sz="1500" dirty="0"/>
          </a:p>
          <a:p>
            <a:pPr indent="0" marL="0">
              <a:buNone/>
            </a:pPr>
            <a:r>
              <a:rPr lang="en-US" sz="1300" dirty="0">
                <a:solidFill>
                  <a:schemeClr val="accent4"/>
                </a:solidFill>
              </a:rPr>
              <a:t>Node builds the bundle; only static files ship in unprivileged Nginx.</a:t>
            </a:r>
            <a:endParaRPr lang="en-US" sz="1500" dirty="0"/>
          </a:p>
          <a:p>
            <a:pPr indent="0" marL="0">
              <a:buNone/>
            </a:pPr>
            <a:r>
              <a:rPr lang="en-US" sz="800" dirty="0">
                <a:solidFill>
                  <a:srgbClr val="000000"/>
                </a:solidFill>
              </a:rPr>
              <a:t> </a:t>
            </a:r>
            <a:endParaRPr lang="en-US" sz="1500" dirty="0"/>
          </a:p>
          <a:p>
            <a:pPr indent="0" marL="0">
              <a:buNone/>
            </a:pPr>
            <a:r>
              <a:rPr lang="en-US" sz="1500" b="1" dirty="0">
                <a:solidFill>
                  <a:schemeClr val="tx1"/>
                </a:solidFill>
              </a:rPr>
              <a:t>One-command local stack</a:t>
            </a:r>
            <a:endParaRPr lang="en-US" sz="1500" dirty="0"/>
          </a:p>
          <a:p>
            <a:pPr indent="0" marL="0">
              <a:buNone/>
            </a:pPr>
            <a:r>
              <a:rPr lang="en-US" sz="1300" dirty="0">
                <a:solidFill>
                  <a:schemeClr val="accent4"/>
                </a:solidFill>
              </a:rPr>
              <a:t>docker compose up --build starts Postgres, backend and frontend with health checks.</a:t>
            </a:r>
            <a:endParaRPr lang="en-US" sz="1500" dirty="0"/>
          </a:p>
        </p:txBody>
      </p:sp>
      <p:sp>
        <p:nvSpPr>
          <p:cNvPr id="7" name="pytest results frame"/>
          <p:cNvSpPr/>
          <p:nvPr/>
        </p:nvSpPr>
        <p:spPr>
          <a:xfrm>
            <a:off x="6263640" y="2017448"/>
            <a:ext cx="5440680" cy="3508905"/>
          </a:xfrm>
          <a:prstGeom prst="rect">
            <a:avLst/>
          </a:prstGeom>
          <a:solidFill>
            <a:schemeClr val="bg1"/>
          </a:solidFill>
          <a:ln w="9525">
            <a:solidFill>
              <a:srgbClr val="C9D6D2"/>
            </a:solidFill>
            <a:prstDash val="solid"/>
          </a:ln>
          <a:effectLst>
            <a:outerShdw sx="100000" sy="100000" kx="0" ky="0" algn="bl" rotWithShape="0" blurRad="101600" dist="25400" dir="5400000">
              <a:srgbClr val="000000">
                <a:alpha val="16000"/>
              </a:srgbClr>
            </a:outerShdw>
          </a:effectLst>
        </p:spPr>
      </p:sp>
      <p:pic>
        <p:nvPicPr>
          <p:cNvPr id="8" name="pytest results" descr="pytest results">    </p:cNvPr>
          <p:cNvPicPr>
            <a:picLocks noChangeAspect="1"/>
          </p:cNvPicPr>
          <p:nvPr/>
        </p:nvPicPr>
        <p:blipFill>
          <a:blip r:embed="rId1"/>
          <a:stretch>
            <a:fillRect/>
          </a:stretch>
        </p:blipFill>
        <p:spPr>
          <a:xfrm>
            <a:off x="6309360" y="2063168"/>
            <a:ext cx="5349240" cy="3417465"/>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3400" b="1" dirty="0">
                <a:solidFill>
                  <a:schemeClr val="tx1"/>
                </a:solidFill>
              </a:rPr>
              <a:t>Problems solved along the way</a:t>
            </a:r>
            <a:endParaRPr lang="en-US" sz="3400" dirty="0"/>
          </a:p>
        </p:txBody>
      </p:sp>
      <p:sp>
        <p:nvSpPr>
          <p:cNvPr id="3" name="Problem 1"/>
          <p:cNvSpPr txBox="1"/>
          <p:nvPr/>
        </p:nvSpPr>
        <p:spPr>
          <a:xfrm>
            <a:off x="548640" y="1463040"/>
            <a:ext cx="3520440" cy="1783080"/>
          </a:xfrm>
          <a:prstGeom prst="roundRect">
            <a:avLst>
              <a:gd name="adj" fmla="val 5128"/>
            </a:avLst>
          </a:prstGeom>
          <a:solidFill>
            <a:schemeClr val="bg2"/>
          </a:solidFill>
          <a:ln/>
          <a:effectLst>
            <a:outerShdw sx="100000" sy="100000" kx="0" ky="0" algn="bl" rotWithShape="0" blurRad="101600" dist="25400" dir="5400000">
              <a:srgbClr val="000000">
                <a:alpha val="16000"/>
              </a:srgbClr>
            </a:outerShdw>
          </a:effectLst>
        </p:spPr>
        <p:txBody>
          <a:bodyPr wrap="square" lIns="177800" tIns="177800" rIns="177800" bIns="177800" rtlCol="0" anchor="t"/>
          <a:lstStyle/>
          <a:p>
            <a:pPr indent="0" marL="0">
              <a:buNone/>
            </a:pPr>
            <a:r>
              <a:rPr lang="en-US" sz="1800" b="1" dirty="0">
                <a:solidFill>
                  <a:schemeClr val="tx1"/>
                </a:solidFill>
              </a:rPr>
              <a:t>Trivy blocked the first release</a:t>
            </a:r>
            <a:endParaRPr lang="en-US" sz="1800" dirty="0"/>
          </a:p>
          <a:p>
            <a:pPr indent="0" marL="0">
              <a:buNone/>
            </a:pPr>
            <a:r>
              <a:rPr lang="en-US" sz="600" dirty="0">
                <a:solidFill>
                  <a:srgbClr val="000000"/>
                </a:solidFill>
              </a:rPr>
              <a:t> </a:t>
            </a:r>
            <a:endParaRPr lang="en-US" sz="1800" dirty="0"/>
          </a:p>
          <a:p>
            <a:pPr indent="0" marL="0">
              <a:buNone/>
            </a:pPr>
            <a:r>
              <a:rPr lang="en-US" sz="1500" dirty="0">
                <a:solidFill>
                  <a:schemeClr val="accent1"/>
                </a:solidFill>
              </a:rPr>
              <a:t>Fix: Upgraded Starlette and the nginx base image</a:t>
            </a:r>
            <a:endParaRPr lang="en-US" sz="1800" dirty="0"/>
          </a:p>
        </p:txBody>
      </p:sp>
      <p:sp>
        <p:nvSpPr>
          <p:cNvPr id="4" name="Problem 2"/>
          <p:cNvSpPr txBox="1"/>
          <p:nvPr/>
        </p:nvSpPr>
        <p:spPr>
          <a:xfrm>
            <a:off x="4297680" y="1463040"/>
            <a:ext cx="3520440" cy="1783080"/>
          </a:xfrm>
          <a:prstGeom prst="roundRect">
            <a:avLst>
              <a:gd name="adj" fmla="val 5128"/>
            </a:avLst>
          </a:prstGeom>
          <a:solidFill>
            <a:schemeClr val="bg2"/>
          </a:solidFill>
          <a:ln/>
          <a:effectLst>
            <a:outerShdw sx="100000" sy="100000" kx="0" ky="0" algn="bl" rotWithShape="0" blurRad="101600" dist="25400" dir="5400000">
              <a:srgbClr val="000000">
                <a:alpha val="16000"/>
              </a:srgbClr>
            </a:outerShdw>
          </a:effectLst>
        </p:spPr>
        <p:txBody>
          <a:bodyPr wrap="square" lIns="177800" tIns="177800" rIns="177800" bIns="177800" rtlCol="0" anchor="t"/>
          <a:lstStyle/>
          <a:p>
            <a:pPr indent="0" marL="0">
              <a:buNone/>
            </a:pPr>
            <a:r>
              <a:rPr lang="en-US" sz="1800" b="1" dirty="0">
                <a:solidFill>
                  <a:schemeClr val="tx1"/>
                </a:solidFill>
              </a:rPr>
              <a:t>Two pods raced on DB migrations</a:t>
            </a:r>
            <a:endParaRPr lang="en-US" sz="1800" dirty="0"/>
          </a:p>
          <a:p>
            <a:pPr indent="0" marL="0">
              <a:buNone/>
            </a:pPr>
            <a:r>
              <a:rPr lang="en-US" sz="600" dirty="0">
                <a:solidFill>
                  <a:srgbClr val="000000"/>
                </a:solidFill>
              </a:rPr>
              <a:t> </a:t>
            </a:r>
            <a:endParaRPr lang="en-US" sz="1800" dirty="0"/>
          </a:p>
          <a:p>
            <a:pPr indent="0" marL="0">
              <a:buNone/>
            </a:pPr>
            <a:r>
              <a:rPr lang="en-US" sz="1500" dirty="0">
                <a:solidFill>
                  <a:schemeClr val="accent1"/>
                </a:solidFill>
              </a:rPr>
              <a:t>Fix: Postgres advisory lock around alembic upgrade</a:t>
            </a:r>
            <a:endParaRPr lang="en-US" sz="1800" dirty="0"/>
          </a:p>
        </p:txBody>
      </p:sp>
      <p:sp>
        <p:nvSpPr>
          <p:cNvPr id="5" name="Problem 3"/>
          <p:cNvSpPr txBox="1"/>
          <p:nvPr/>
        </p:nvSpPr>
        <p:spPr>
          <a:xfrm>
            <a:off x="8046720" y="1463040"/>
            <a:ext cx="3520440" cy="1783080"/>
          </a:xfrm>
          <a:prstGeom prst="roundRect">
            <a:avLst>
              <a:gd name="adj" fmla="val 5128"/>
            </a:avLst>
          </a:prstGeom>
          <a:solidFill>
            <a:schemeClr val="bg2"/>
          </a:solidFill>
          <a:ln/>
          <a:effectLst>
            <a:outerShdw sx="100000" sy="100000" kx="0" ky="0" algn="bl" rotWithShape="0" blurRad="101600" dist="25400" dir="5400000">
              <a:srgbClr val="000000">
                <a:alpha val="16000"/>
              </a:srgbClr>
            </a:outerShdw>
          </a:effectLst>
        </p:spPr>
        <p:txBody>
          <a:bodyPr wrap="square" lIns="177800" tIns="177800" rIns="177800" bIns="177800" rtlCol="0" anchor="t"/>
          <a:lstStyle/>
          <a:p>
            <a:pPr indent="0" marL="0">
              <a:buNone/>
            </a:pPr>
            <a:r>
              <a:rPr lang="en-US" sz="1800" b="1" dirty="0">
                <a:solidFill>
                  <a:schemeClr val="tx1"/>
                </a:solidFill>
              </a:rPr>
              <a:t>Backend started before Postgres</a:t>
            </a:r>
            <a:endParaRPr lang="en-US" sz="1800" dirty="0"/>
          </a:p>
          <a:p>
            <a:pPr indent="0" marL="0">
              <a:buNone/>
            </a:pPr>
            <a:r>
              <a:rPr lang="en-US" sz="600" dirty="0">
                <a:solidFill>
                  <a:srgbClr val="000000"/>
                </a:solidFill>
              </a:rPr>
              <a:t> </a:t>
            </a:r>
            <a:endParaRPr lang="en-US" sz="1800" dirty="0"/>
          </a:p>
          <a:p>
            <a:pPr indent="0" marL="0">
              <a:buNone/>
            </a:pPr>
            <a:r>
              <a:rPr lang="en-US" sz="1500" dirty="0">
                <a:solidFill>
                  <a:schemeClr val="accent1"/>
                </a:solidFill>
              </a:rPr>
              <a:t>Fix: TCP health check and a</a:t>
            </a:r>
            <a:endParaRPr lang="en-US" sz="1800" dirty="0"/>
          </a:p>
          <a:p>
            <a:pPr indent="0" marL="0">
              <a:buNone/>
            </a:pPr>
            <a:r>
              <a:rPr lang="en-US" sz="1500" dirty="0">
                <a:solidFill>
                  <a:schemeClr val="accent1"/>
                </a:solidFill>
              </a:rPr>
              <a:t>wait-for-postgres init container</a:t>
            </a:r>
            <a:endParaRPr lang="en-US" sz="1800" dirty="0"/>
          </a:p>
        </p:txBody>
      </p:sp>
      <p:sp>
        <p:nvSpPr>
          <p:cNvPr id="6" name="Problem 4"/>
          <p:cNvSpPr txBox="1"/>
          <p:nvPr/>
        </p:nvSpPr>
        <p:spPr>
          <a:xfrm>
            <a:off x="548640" y="3520440"/>
            <a:ext cx="3520440" cy="1783080"/>
          </a:xfrm>
          <a:prstGeom prst="roundRect">
            <a:avLst>
              <a:gd name="adj" fmla="val 5128"/>
            </a:avLst>
          </a:prstGeom>
          <a:solidFill>
            <a:schemeClr val="bg2"/>
          </a:solidFill>
          <a:ln/>
          <a:effectLst>
            <a:outerShdw sx="100000" sy="100000" kx="0" ky="0" algn="bl" rotWithShape="0" blurRad="101600" dist="25400" dir="5400000">
              <a:srgbClr val="000000">
                <a:alpha val="16000"/>
              </a:srgbClr>
            </a:outerShdw>
          </a:effectLst>
        </p:spPr>
        <p:txBody>
          <a:bodyPr wrap="square" lIns="177800" tIns="177800" rIns="177800" bIns="177800" rtlCol="0" anchor="t"/>
          <a:lstStyle/>
          <a:p>
            <a:pPr indent="0" marL="0">
              <a:buNone/>
            </a:pPr>
            <a:r>
              <a:rPr lang="en-US" sz="1800" b="1" dirty="0">
                <a:solidFill>
                  <a:schemeClr val="tx1"/>
                </a:solidFill>
              </a:rPr>
              <a:t>AWS Free plan rejected t3.medium</a:t>
            </a:r>
            <a:endParaRPr lang="en-US" sz="1800" dirty="0"/>
          </a:p>
          <a:p>
            <a:pPr indent="0" marL="0">
              <a:buNone/>
            </a:pPr>
            <a:r>
              <a:rPr lang="en-US" sz="600" dirty="0">
                <a:solidFill>
                  <a:srgbClr val="000000"/>
                </a:solidFill>
              </a:rPr>
              <a:t> </a:t>
            </a:r>
            <a:endParaRPr lang="en-US" sz="1800" dirty="0"/>
          </a:p>
          <a:p>
            <a:pPr indent="0" marL="0">
              <a:buNone/>
            </a:pPr>
            <a:r>
              <a:rPr lang="en-US" sz="1500" dirty="0">
                <a:solidFill>
                  <a:schemeClr val="accent1"/>
                </a:solidFill>
              </a:rPr>
              <a:t>Fix: Switched worker nodes to</a:t>
            </a:r>
            <a:endParaRPr lang="en-US" sz="1800" dirty="0"/>
          </a:p>
          <a:p>
            <a:pPr indent="0" marL="0">
              <a:buNone/>
            </a:pPr>
            <a:r>
              <a:rPr lang="en-US" sz="1500" dirty="0">
                <a:solidFill>
                  <a:schemeClr val="accent1"/>
                </a:solidFill>
              </a:rPr>
              <a:t>m7i-flex.large</a:t>
            </a:r>
            <a:endParaRPr lang="en-US" sz="1800" dirty="0"/>
          </a:p>
        </p:txBody>
      </p:sp>
      <p:sp>
        <p:nvSpPr>
          <p:cNvPr id="7" name="Problem 5"/>
          <p:cNvSpPr txBox="1"/>
          <p:nvPr/>
        </p:nvSpPr>
        <p:spPr>
          <a:xfrm>
            <a:off x="4297680" y="3520440"/>
            <a:ext cx="3520440" cy="1783080"/>
          </a:xfrm>
          <a:prstGeom prst="roundRect">
            <a:avLst>
              <a:gd name="adj" fmla="val 5128"/>
            </a:avLst>
          </a:prstGeom>
          <a:solidFill>
            <a:schemeClr val="bg2"/>
          </a:solidFill>
          <a:ln/>
          <a:effectLst>
            <a:outerShdw sx="100000" sy="100000" kx="0" ky="0" algn="bl" rotWithShape="0" blurRad="101600" dist="25400" dir="5400000">
              <a:srgbClr val="000000">
                <a:alpha val="16000"/>
              </a:srgbClr>
            </a:outerShdw>
          </a:effectLst>
        </p:spPr>
        <p:txBody>
          <a:bodyPr wrap="square" lIns="177800" tIns="177800" rIns="177800" bIns="177800" rtlCol="0" anchor="t"/>
          <a:lstStyle/>
          <a:p>
            <a:pPr indent="0" marL="0">
              <a:buNone/>
            </a:pPr>
            <a:r>
              <a:rPr lang="en-US" sz="1800" b="1" dirty="0">
                <a:solidFill>
                  <a:schemeClr val="tx1"/>
                </a:solidFill>
              </a:rPr>
              <a:t>CI deploy: AssumeRole denied</a:t>
            </a:r>
            <a:endParaRPr lang="en-US" sz="1800" dirty="0"/>
          </a:p>
          <a:p>
            <a:pPr indent="0" marL="0">
              <a:buNone/>
            </a:pPr>
            <a:r>
              <a:rPr lang="en-US" sz="600" dirty="0">
                <a:solidFill>
                  <a:srgbClr val="000000"/>
                </a:solidFill>
              </a:rPr>
              <a:t> </a:t>
            </a:r>
            <a:endParaRPr lang="en-US" sz="1800" dirty="0"/>
          </a:p>
          <a:p>
            <a:pPr indent="0" marL="0">
              <a:buNone/>
            </a:pPr>
            <a:r>
              <a:rPr lang="en-US" sz="1500" dirty="0">
                <a:solidFill>
                  <a:schemeClr val="accent1"/>
                </a:solidFill>
              </a:rPr>
              <a:t>Fix: Trusted GitHub's immutable OIDC subject</a:t>
            </a:r>
            <a:endParaRPr lang="en-US" sz="1800" dirty="0"/>
          </a:p>
        </p:txBody>
      </p:sp>
      <p:sp>
        <p:nvSpPr>
          <p:cNvPr id="8" name="Problem 6"/>
          <p:cNvSpPr txBox="1"/>
          <p:nvPr/>
        </p:nvSpPr>
        <p:spPr>
          <a:xfrm>
            <a:off x="8046720" y="3520440"/>
            <a:ext cx="3520440" cy="1783080"/>
          </a:xfrm>
          <a:prstGeom prst="roundRect">
            <a:avLst>
              <a:gd name="adj" fmla="val 5128"/>
            </a:avLst>
          </a:prstGeom>
          <a:solidFill>
            <a:schemeClr val="bg2"/>
          </a:solidFill>
          <a:ln/>
          <a:effectLst>
            <a:outerShdw sx="100000" sy="100000" kx="0" ky="0" algn="bl" rotWithShape="0" blurRad="101600" dist="25400" dir="5400000">
              <a:srgbClr val="000000">
                <a:alpha val="16000"/>
              </a:srgbClr>
            </a:outerShdw>
          </a:effectLst>
        </p:spPr>
        <p:txBody>
          <a:bodyPr wrap="square" lIns="177800" tIns="177800" rIns="177800" bIns="177800" rtlCol="0" anchor="t"/>
          <a:lstStyle/>
          <a:p>
            <a:pPr indent="0" marL="0">
              <a:buNone/>
            </a:pPr>
            <a:r>
              <a:rPr lang="en-US" sz="1800" b="1" dirty="0">
                <a:solidFill>
                  <a:schemeClr val="tx1"/>
                </a:solidFill>
              </a:rPr>
              <a:t>Uppercase username invalid in GHCR</a:t>
            </a:r>
            <a:endParaRPr lang="en-US" sz="1800" dirty="0"/>
          </a:p>
          <a:p>
            <a:pPr indent="0" marL="0">
              <a:buNone/>
            </a:pPr>
            <a:r>
              <a:rPr lang="en-US" sz="600" dirty="0">
                <a:solidFill>
                  <a:srgbClr val="000000"/>
                </a:solidFill>
              </a:rPr>
              <a:t> </a:t>
            </a:r>
            <a:endParaRPr lang="en-US" sz="1800" dirty="0"/>
          </a:p>
          <a:p>
            <a:pPr indent="0" marL="0">
              <a:buNone/>
            </a:pPr>
            <a:r>
              <a:rPr lang="en-US" sz="1500" dirty="0">
                <a:solidFill>
                  <a:schemeClr val="accent1"/>
                </a:solidFill>
              </a:rPr>
              <a:t>Fix: Lowercased the owner in image names</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3400" b="1" dirty="0">
                <a:solidFill>
                  <a:schemeClr val="tx1"/>
                </a:solidFill>
              </a:rPr>
              <a:t>Live demo: commit to production</a:t>
            </a:r>
            <a:endParaRPr lang="en-US" sz="3400" dirty="0"/>
          </a:p>
        </p:txBody>
      </p:sp>
      <p:sp>
        <p:nvSpPr>
          <p:cNvPr id="3" name="Module chip"/>
          <p:cNvSpPr txBox="1"/>
          <p:nvPr/>
        </p:nvSpPr>
        <p:spPr>
          <a:xfrm>
            <a:off x="9555480" y="502920"/>
            <a:ext cx="2103120" cy="411480"/>
          </a:xfrm>
          <a:prstGeom prst="roundRect">
            <a:avLst>
              <a:gd name="adj" fmla="val 40000"/>
            </a:avLst>
          </a:prstGeom>
          <a:solidFill>
            <a:schemeClr val="bg2"/>
          </a:solidFill>
          <a:ln/>
        </p:spPr>
        <p:txBody>
          <a:bodyPr wrap="square" lIns="0" tIns="0" rIns="0" bIns="0" rtlCol="0" anchor="ctr"/>
          <a:lstStyle/>
          <a:p>
            <a:pPr algn="ctr" indent="0" marL="0">
              <a:buNone/>
            </a:pPr>
            <a:r>
              <a:rPr lang="en-US" sz="1200" b="1" dirty="0">
                <a:solidFill>
                  <a:schemeClr val="accent1"/>
                </a:solidFill>
              </a:rPr>
              <a:t>M10 · Demo</a:t>
            </a:r>
            <a:endParaRPr lang="en-US" sz="1200" dirty="0"/>
          </a:p>
        </p:txBody>
      </p:sp>
      <p:sp>
        <p:nvSpPr>
          <p:cNvPr id="4" name="Shape 2"/>
          <p:cNvSpPr/>
          <p:nvPr/>
        </p:nvSpPr>
        <p:spPr>
          <a:xfrm>
            <a:off x="1474470" y="2240280"/>
            <a:ext cx="9258300" cy="0"/>
          </a:xfrm>
          <a:prstGeom prst="line">
            <a:avLst/>
          </a:prstGeom>
          <a:noFill/>
          <a:ln w="25400">
            <a:solidFill>
              <a:srgbClr val="B8CCC7"/>
            </a:solidFill>
            <a:prstDash val="solid"/>
          </a:ln>
        </p:spPr>
      </p:sp>
      <p:sp>
        <p:nvSpPr>
          <p:cNvPr id="5" name="Step 1"/>
          <p:cNvSpPr txBox="1"/>
          <p:nvPr/>
        </p:nvSpPr>
        <p:spPr>
          <a:xfrm>
            <a:off x="1062990" y="1828800"/>
            <a:ext cx="822960" cy="82296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4"/>
          <p:cNvSpPr txBox="1"/>
          <p:nvPr/>
        </p:nvSpPr>
        <p:spPr>
          <a:xfrm>
            <a:off x="594360" y="2788920"/>
            <a:ext cx="1760220" cy="731520"/>
          </a:xfrm>
          <a:prstGeom prst="rect">
            <a:avLst/>
          </a:prstGeom>
          <a:noFill/>
          <a:ln/>
        </p:spPr>
        <p:txBody>
          <a:bodyPr wrap="square" lIns="0" tIns="0" rIns="0" bIns="0" rtlCol="0" anchor="t"/>
          <a:lstStyle/>
          <a:p>
            <a:pPr algn="ctr" indent="0" marL="0">
              <a:buNone/>
            </a:pPr>
            <a:r>
              <a:rPr lang="en-US" sz="1500" b="1" dirty="0">
                <a:solidFill>
                  <a:schemeClr val="tx1"/>
                </a:solidFill>
              </a:rPr>
              <a:t>Edit header to “v2”</a:t>
            </a:r>
            <a:endParaRPr lang="en-US" sz="1500" dirty="0"/>
          </a:p>
        </p:txBody>
      </p:sp>
      <p:sp>
        <p:nvSpPr>
          <p:cNvPr id="7" name="Step 2"/>
          <p:cNvSpPr txBox="1"/>
          <p:nvPr/>
        </p:nvSpPr>
        <p:spPr>
          <a:xfrm>
            <a:off x="2914650" y="1828800"/>
            <a:ext cx="822960" cy="82296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Text 6"/>
          <p:cNvSpPr txBox="1"/>
          <p:nvPr/>
        </p:nvSpPr>
        <p:spPr>
          <a:xfrm>
            <a:off x="2446020" y="2788920"/>
            <a:ext cx="1760220" cy="731520"/>
          </a:xfrm>
          <a:prstGeom prst="rect">
            <a:avLst/>
          </a:prstGeom>
          <a:noFill/>
          <a:ln/>
        </p:spPr>
        <p:txBody>
          <a:bodyPr wrap="square" lIns="0" tIns="0" rIns="0" bIns="0" rtlCol="0" anchor="t"/>
          <a:lstStyle/>
          <a:p>
            <a:pPr algn="ctr" indent="0" marL="0">
              <a:buNone/>
            </a:pPr>
            <a:r>
              <a:rPr lang="en-US" sz="1500" b="1" dirty="0">
                <a:solidFill>
                  <a:schemeClr val="tx1"/>
                </a:solidFill>
              </a:rPr>
              <a:t>git push</a:t>
            </a:r>
            <a:endParaRPr lang="en-US" sz="1500" dirty="0"/>
          </a:p>
        </p:txBody>
      </p:sp>
      <p:sp>
        <p:nvSpPr>
          <p:cNvPr id="9" name="Step 3"/>
          <p:cNvSpPr txBox="1"/>
          <p:nvPr/>
        </p:nvSpPr>
        <p:spPr>
          <a:xfrm>
            <a:off x="4766310" y="1828800"/>
            <a:ext cx="822960" cy="82296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0" name="Text 8"/>
          <p:cNvSpPr txBox="1"/>
          <p:nvPr/>
        </p:nvSpPr>
        <p:spPr>
          <a:xfrm>
            <a:off x="4297680" y="2788920"/>
            <a:ext cx="1760220" cy="731520"/>
          </a:xfrm>
          <a:prstGeom prst="rect">
            <a:avLst/>
          </a:prstGeom>
          <a:noFill/>
          <a:ln/>
        </p:spPr>
        <p:txBody>
          <a:bodyPr wrap="square" lIns="0" tIns="0" rIns="0" bIns="0" rtlCol="0" anchor="t"/>
          <a:lstStyle/>
          <a:p>
            <a:pPr algn="ctr" indent="0" marL="0">
              <a:buNone/>
            </a:pPr>
            <a:r>
              <a:rPr lang="en-US" sz="1500" b="1" dirty="0">
                <a:solidFill>
                  <a:schemeClr val="tx1"/>
                </a:solidFill>
              </a:rPr>
              <a:t>Tests + Trivy</a:t>
            </a:r>
            <a:endParaRPr lang="en-US" sz="1500" dirty="0"/>
          </a:p>
        </p:txBody>
      </p:sp>
      <p:sp>
        <p:nvSpPr>
          <p:cNvPr id="11" name="Step 4"/>
          <p:cNvSpPr txBox="1"/>
          <p:nvPr/>
        </p:nvSpPr>
        <p:spPr>
          <a:xfrm>
            <a:off x="6617970" y="1828800"/>
            <a:ext cx="822960" cy="82296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2" name="Text 10"/>
          <p:cNvSpPr txBox="1"/>
          <p:nvPr/>
        </p:nvSpPr>
        <p:spPr>
          <a:xfrm>
            <a:off x="6149340" y="2788920"/>
            <a:ext cx="1760220" cy="731520"/>
          </a:xfrm>
          <a:prstGeom prst="rect">
            <a:avLst/>
          </a:prstGeom>
          <a:noFill/>
          <a:ln/>
        </p:spPr>
        <p:txBody>
          <a:bodyPr wrap="square" lIns="0" tIns="0" rIns="0" bIns="0" rtlCol="0" anchor="t"/>
          <a:lstStyle/>
          <a:p>
            <a:pPr algn="ctr" indent="0" marL="0">
              <a:buNone/>
            </a:pPr>
            <a:r>
              <a:rPr lang="en-US" sz="1500" b="1" dirty="0">
                <a:solidFill>
                  <a:schemeClr val="tx1"/>
                </a:solidFill>
              </a:rPr>
              <a:t>Images to GHCR</a:t>
            </a:r>
            <a:endParaRPr lang="en-US" sz="1500" dirty="0"/>
          </a:p>
        </p:txBody>
      </p:sp>
      <p:sp>
        <p:nvSpPr>
          <p:cNvPr id="13" name="Step 5"/>
          <p:cNvSpPr txBox="1"/>
          <p:nvPr/>
        </p:nvSpPr>
        <p:spPr>
          <a:xfrm>
            <a:off x="8469630" y="1828800"/>
            <a:ext cx="822960" cy="82296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14" name="Text 12"/>
          <p:cNvSpPr txBox="1"/>
          <p:nvPr/>
        </p:nvSpPr>
        <p:spPr>
          <a:xfrm>
            <a:off x="8001000" y="2788920"/>
            <a:ext cx="1760220" cy="731520"/>
          </a:xfrm>
          <a:prstGeom prst="rect">
            <a:avLst/>
          </a:prstGeom>
          <a:noFill/>
          <a:ln/>
        </p:spPr>
        <p:txBody>
          <a:bodyPr wrap="square" lIns="0" tIns="0" rIns="0" bIns="0" rtlCol="0" anchor="t"/>
          <a:lstStyle/>
          <a:p>
            <a:pPr algn="ctr" indent="0" marL="0">
              <a:buNone/>
            </a:pPr>
            <a:r>
              <a:rPr lang="en-US" sz="1500" b="1" dirty="0">
                <a:solidFill>
                  <a:schemeClr val="tx1"/>
                </a:solidFill>
              </a:rPr>
              <a:t>Helm upgrade on EKS</a:t>
            </a:r>
            <a:endParaRPr lang="en-US" sz="1500" dirty="0"/>
          </a:p>
        </p:txBody>
      </p:sp>
      <p:sp>
        <p:nvSpPr>
          <p:cNvPr id="15" name="Step 6"/>
          <p:cNvSpPr txBox="1"/>
          <p:nvPr/>
        </p:nvSpPr>
        <p:spPr>
          <a:xfrm>
            <a:off x="10321290" y="1828800"/>
            <a:ext cx="822960" cy="822960"/>
          </a:xfrm>
          <a:prstGeom prst="ellipse">
            <a:avLst/>
          </a:prstGeom>
          <a:solidFill>
            <a:schemeClr val="accent5"/>
          </a:solidFill>
          <a:ln/>
        </p:spPr>
        <p:txBody>
          <a:bodyPr wrap="square" lIns="0" tIns="0" rIns="0" bIns="0" rtlCol="0" anchor="ctr"/>
          <a:lstStyle/>
          <a:p>
            <a:pPr algn="ctr" indent="0" marL="0">
              <a:buNone/>
            </a:pPr>
            <a:r>
              <a:rPr lang="en-US" sz="2200" b="1" dirty="0">
                <a:solidFill>
                  <a:schemeClr val="bg1"/>
                </a:solidFill>
              </a:rPr>
              <a:t>6</a:t>
            </a:r>
            <a:endParaRPr lang="en-US" sz="2200" dirty="0"/>
          </a:p>
        </p:txBody>
      </p:sp>
      <p:sp>
        <p:nvSpPr>
          <p:cNvPr id="16" name="Text 14"/>
          <p:cNvSpPr txBox="1"/>
          <p:nvPr/>
        </p:nvSpPr>
        <p:spPr>
          <a:xfrm>
            <a:off x="9852660" y="2788920"/>
            <a:ext cx="1760220" cy="731520"/>
          </a:xfrm>
          <a:prstGeom prst="rect">
            <a:avLst/>
          </a:prstGeom>
          <a:noFill/>
          <a:ln/>
        </p:spPr>
        <p:txBody>
          <a:bodyPr wrap="square" lIns="0" tIns="0" rIns="0" bIns="0" rtlCol="0" anchor="t"/>
          <a:lstStyle/>
          <a:p>
            <a:pPr algn="ctr" indent="0" marL="0">
              <a:buNone/>
            </a:pPr>
            <a:r>
              <a:rPr lang="en-US" sz="1500" b="1" dirty="0">
                <a:solidFill>
                  <a:schemeClr val="tx1"/>
                </a:solidFill>
              </a:rPr>
              <a:t>v2 live in browser</a:t>
            </a:r>
            <a:endParaRPr lang="en-US" sz="1500" dirty="0"/>
          </a:p>
        </p:txBody>
      </p:sp>
      <p:sp>
        <p:nvSpPr>
          <p:cNvPr id="17" name="Stat ≈ 3 min"/>
          <p:cNvSpPr txBox="1"/>
          <p:nvPr/>
        </p:nvSpPr>
        <p:spPr>
          <a:xfrm>
            <a:off x="548640" y="3931920"/>
            <a:ext cx="3657600" cy="11430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 3 min</a:t>
            </a:r>
            <a:endParaRPr lang="en-US" sz="3600" dirty="0"/>
          </a:p>
          <a:p>
            <a:pPr indent="0" marL="0">
              <a:buNone/>
            </a:pPr>
            <a:r>
              <a:rPr lang="en-US" sz="1300" dirty="0">
                <a:solidFill>
                  <a:schemeClr val="accent4"/>
                </a:solidFill>
              </a:rPr>
              <a:t>from git push to the new version serving traffic</a:t>
            </a:r>
            <a:endParaRPr lang="en-US" sz="3600" dirty="0"/>
          </a:p>
        </p:txBody>
      </p:sp>
      <p:sp>
        <p:nvSpPr>
          <p:cNvPr id="18" name="Text 16"/>
          <p:cNvSpPr txBox="1"/>
          <p:nvPr/>
        </p:nvSpPr>
        <p:spPr>
          <a:xfrm>
            <a:off x="4754880" y="3977640"/>
            <a:ext cx="6858000" cy="1280160"/>
          </a:xfrm>
          <a:prstGeom prst="rect">
            <a:avLst/>
          </a:prstGeom>
          <a:noFill/>
          <a:ln/>
        </p:spPr>
        <p:txBody>
          <a:bodyPr wrap="square" lIns="0" tIns="0" rIns="0" bIns="0" rtlCol="0" anchor="t"/>
          <a:lstStyle/>
          <a:p>
            <a:pPr indent="0" marL="0">
              <a:buNone/>
            </a:pPr>
            <a:r>
              <a:rPr lang="en-US" sz="1500" b="1" dirty="0">
                <a:solidFill>
                  <a:schemeClr val="tx1"/>
                </a:solidFill>
              </a:rPr>
              <a:t>Recorded walkthrough</a:t>
            </a:r>
            <a:endParaRPr lang="en-US" sz="1500" dirty="0"/>
          </a:p>
          <a:p>
            <a:pPr indent="0" marL="0">
              <a:buNone/>
            </a:pPr>
            <a:r>
              <a:rPr lang="en-US" sz="1300" dirty="0">
                <a:solidFill>
                  <a:schemeClr val="accent4"/>
                </a:solidFill>
              </a:rPr>
              <a:t>demo/demo.mp4 · embedded in the README</a:t>
            </a:r>
            <a:endParaRPr lang="en-US" sz="1500" dirty="0"/>
          </a:p>
          <a:p>
            <a:pPr indent="0" marL="0">
              <a:buNone/>
            </a:pPr>
            <a:r>
              <a:rPr lang="en-US" sz="13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github.com/MohitSAGAR11/devops_finalAssignment</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5486400" cy="173736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731520" y="3474720"/>
            <a:ext cx="5486400" cy="1005840"/>
          </a:xfrm>
          <a:prstGeom prst="rect">
            <a:avLst/>
          </a:prstGeom>
          <a:noFill/>
          <a:ln/>
        </p:spPr>
        <p:txBody>
          <a:bodyPr wrap="square" lIns="0" tIns="0" rIns="0" bIns="0" rtlCol="0" anchor="t"/>
          <a:lstStyle/>
          <a:p>
            <a:pPr algn="l" indent="0" marL="0">
              <a:buNone/>
            </a:pPr>
            <a:r>
              <a:rPr lang="en-US" sz="2000" dirty="0">
                <a:solidFill>
                  <a:schemeClr val="accent2"/>
                </a:solidFill>
              </a:rPr>
              <a:t>Questions?</a:t>
            </a:r>
            <a:endParaRPr lang="en-US" sz="2000" dirty="0"/>
          </a:p>
        </p:txBody>
      </p:sp>
      <p:sp>
        <p:nvSpPr>
          <p:cNvPr id="4" name="Text 2"/>
          <p:cNvSpPr txBox="1"/>
          <p:nvPr/>
        </p:nvSpPr>
        <p:spPr>
          <a:xfrm>
            <a:off x="6949440" y="1371600"/>
            <a:ext cx="4572000" cy="9601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27</a:t>
            </a:r>
            <a:endParaRPr lang="en-US" sz="3000" dirty="0"/>
          </a:p>
          <a:p>
            <a:pPr indent="0" marL="0">
              <a:buNone/>
            </a:pPr>
            <a:r>
              <a:rPr lang="en-US" sz="1300" dirty="0">
                <a:solidFill>
                  <a:schemeClr val="bg2"/>
                </a:solidFill>
              </a:rPr>
              <a:t>commits</a:t>
            </a:r>
            <a:endParaRPr lang="en-US" sz="3000" dirty="0"/>
          </a:p>
        </p:txBody>
      </p:sp>
      <p:sp>
        <p:nvSpPr>
          <p:cNvPr id="5" name="Text 3"/>
          <p:cNvSpPr txBox="1"/>
          <p:nvPr/>
        </p:nvSpPr>
        <p:spPr>
          <a:xfrm>
            <a:off x="6949440" y="2468880"/>
            <a:ext cx="4572000" cy="9601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19</a:t>
            </a:r>
            <a:endParaRPr lang="en-US" sz="3000" dirty="0"/>
          </a:p>
          <a:p>
            <a:pPr indent="0" marL="0">
              <a:buNone/>
            </a:pPr>
            <a:r>
              <a:rPr lang="en-US" sz="1300" dirty="0">
                <a:solidFill>
                  <a:schemeClr val="bg2"/>
                </a:solidFill>
              </a:rPr>
              <a:t>tests</a:t>
            </a:r>
            <a:endParaRPr lang="en-US" sz="3000" dirty="0"/>
          </a:p>
        </p:txBody>
      </p:sp>
      <p:sp>
        <p:nvSpPr>
          <p:cNvPr id="6" name="Text 4"/>
          <p:cNvSpPr txBox="1"/>
          <p:nvPr/>
        </p:nvSpPr>
        <p:spPr>
          <a:xfrm>
            <a:off x="6949440" y="3566160"/>
            <a:ext cx="4572000" cy="9601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a:t>
            </a:r>
            <a:endParaRPr lang="en-US" sz="3000" dirty="0"/>
          </a:p>
          <a:p>
            <a:pPr indent="0" marL="0">
              <a:buNone/>
            </a:pPr>
            <a:r>
              <a:rPr lang="en-US" sz="1300" dirty="0">
                <a:solidFill>
                  <a:schemeClr val="bg2"/>
                </a:solidFill>
              </a:rPr>
              <a:t>HIGH/CRITICAL CVEs</a:t>
            </a:r>
            <a:endParaRPr lang="en-US" sz="3000" dirty="0"/>
          </a:p>
        </p:txBody>
      </p:sp>
      <p:sp>
        <p:nvSpPr>
          <p:cNvPr id="7" name="Text 5"/>
          <p:cNvSpPr txBox="1"/>
          <p:nvPr/>
        </p:nvSpPr>
        <p:spPr>
          <a:xfrm>
            <a:off x="6949440" y="4663440"/>
            <a:ext cx="4572000" cy="9601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66 / 66</a:t>
            </a:r>
            <a:endParaRPr lang="en-US" sz="3000" dirty="0"/>
          </a:p>
          <a:p>
            <a:pPr indent="0" marL="0">
              <a:buNone/>
            </a:pPr>
            <a:r>
              <a:rPr lang="en-US" sz="1300" dirty="0">
                <a:solidFill>
                  <a:schemeClr val="bg2"/>
                </a:solidFill>
              </a:rPr>
              <a:t>AWS resources created / destroyed</a:t>
            </a:r>
            <a:endParaRPr lang="en-US" sz="3000" dirty="0"/>
          </a:p>
        </p:txBody>
      </p:sp>
      <p:sp>
        <p:nvSpPr>
          <p:cNvPr id="8" name="Text 6">
            <a:hlinkClick r:id="rId1" tooltip=""/>
          </p:cNvPr>
          <p:cNvSpPr txBox="1"/>
          <p:nvPr/>
        </p:nvSpPr>
        <p:spPr>
          <a:xfrm>
            <a:off x="731520" y="5120640"/>
            <a:ext cx="5669280" cy="365760"/>
          </a:xfrm>
          <a:prstGeom prst="rect">
            <a:avLst/>
          </a:prstGeom>
          <a:noFill/>
          <a:ln/>
        </p:spPr>
        <p:txBody>
          <a:bodyPr wrap="square" lIns="0" tIns="0" rIns="0" bIns="0" rtlCol="0" anchor="ctr"/>
          <a:lstStyle/>
          <a:p>
            <a:pPr indent="0" marL="0">
              <a:buNone/>
            </a:pPr>
            <a:r>
              <a:rPr lang="en-US" sz="1400" u="sng" dirty="0">
                <a:solidFill>
                  <a:schemeClr val="bg2"/>
                </a:solidFill>
                <a:hlinkClick r:id="rId1" invalidUrl="" action="" tgtFrame="" tooltip="" history="1" highlightClick="0" endSnd="0">
                  <a:extLst>
                    <a:ext uri="{A12FA001-AC4F-418D-AE19-62706E023703}">
                      <ahyp:hlinkClr xmlns:ahyp="http://schemas.microsoft.com/office/drawing/2018/hyperlinkcolor" val="tx"/>
                    </a:ext>
                  </a:extLst>
                </a:hlinkClick>
              </a:rPr>
              <a:t>github.com/MohitSAGAR11/devops_finalAssignment</a:t>
            </a:r>
            <a:endParaRPr lang="en-US" sz="1400" dirty="0"/>
          </a:p>
        </p:txBody>
      </p:sp>
    </p:spTree>
  </p:cSld>
  <p:clrMapOvr>
    <a:masterClrMapping/>
  </p:clrMapOvr>
</p:sld>
</file>

<file path=ppt/theme/theme1.xml><?xml version="1.0" encoding="utf-8"?>
<a:theme xmlns:a="http://schemas.openxmlformats.org/drawingml/2006/main" name="Inventory Teal">
  <a:themeElements>
    <a:clrScheme name="Inventory Teal">
      <a:dk1>
        <a:srgbClr val="14211D"/>
      </a:dk1>
      <a:lt1>
        <a:srgbClr val="FFFFFF"/>
      </a:lt1>
      <a:dk2>
        <a:srgbClr val="0B3D38"/>
      </a:dk2>
      <a:lt2>
        <a:srgbClr val="EAF3F1"/>
      </a:lt2>
      <a:accent1>
        <a:srgbClr val="0F766E"/>
      </a:accent1>
      <a:accent2>
        <a:srgbClr val="2DD4BF"/>
      </a:accent2>
      <a:accent3>
        <a:srgbClr val="B45309"/>
      </a:accent3>
      <a:accent4>
        <a:srgbClr val="5B6B66"/>
      </a:accent4>
      <a:accent5>
        <a:srgbClr val="15803D"/>
      </a:accent5>
      <a:accent6>
        <a:srgbClr val="B91C1C"/>
      </a:accent6>
      <a:hlink>
        <a:srgbClr val="0F766E"/>
      </a:hlink>
      <a:folHlink>
        <a:srgbClr val="0B3D38"/>
      </a:folHlink>
    </a:clrScheme>
    <a:fontScheme name="Inventory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Mohit Sagar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Manager — DevOps Capstone</dc:title>
  <dc:subject>DevOps Capstone</dc:subject>
  <dc:creator>Mohit Sagar</dc:creator>
  <cp:lastModifiedBy>Mohit Sagar</cp:lastModifiedBy>
  <cp:revision>1</cp:revision>
  <dcterms:created xsi:type="dcterms:W3CDTF">2026-10-14T17:46:09Z</dcterms:created>
  <dcterms:modified xsi:type="dcterms:W3CDTF">2026-10-14T17:46:09Z</dcterms:modified>
</cp:coreProperties>
</file>